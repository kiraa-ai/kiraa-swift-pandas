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science is one of the most powerful disciplines in modern technology. The people who do it are among the most skilled professionals on the planet. And for fifteen years, almost all of them have been handed the same tool: Python and pandas. Today I want to talk about why that's starting to change — and why the hardware in your laptop might be the most important piece of this story.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give credit where it's due. pandas was a revolution. Before it, data scientists were duct-taping together R, SQL, and Perl scripts. Wes McKinney gave us a clean, expressive way to manipulate tabular data that millions of people adopted almost overnight.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time you run a Python script, you pay a 600 millisecond tax just to import pandas. Six hundred milliseconds. Before you've touched a single row of data. And if you run ten transforms on the same dataset from the command line? You pay that tax ten times.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real measurement on a real 5-megabyte CSV. Ten transforms, eight seconds. Six of those seconds are just Python existing. The tool is fighting you at the moment you need it most — when you're thinking fast and your intuition is running hot.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people doing this work are not the problem. They're sophisticated professionals who understand concepts like lazy evaluation, predicate pushdown, and GPU parallelism. They're ready for tools that match their capabilities. The gap is widest on Apple hardware — because Apple has quietly built something extraordinary that almost no data tool has properly exploited.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Apple Silicon, the CPU and GPU share the same physical memory. There is no copy. You hand the GPU a pointer to your data and it starts computing immediately. Combine that with Metal compute shaders and Apple's Accelerate framework and you have a platform purpose-built for high-performance data work. It just needed a library to use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SwiftPandas ships seven Metal compute shaders: five for GroupBy, two for Merge. They use atomic compare-exchange operations for thread-safe slot insertion, parallel reductions across thousands of GPU threads simultaneously, and validity bitmaps that match Python's NA semantics exactly. The system automatically routes to the GPU at 500,000 rows and falls back to the CPU for smaller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SwiftPandas. Kiraa's contribution to the open source community. A native Swift port of pandas that runs on every Mac and iPhone Apple ships. The API is intentionally familiar. And it ships a resident-memory daemon that lets you load a dataset once and run interactive transforms in fifteen milliseconds per operation.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real numbers. SwiftPandas wins 23 of 30 benchmarks against pandas and is 25.7% faster on average. DataFrame construction — 1 million rows — takes 7 milliseconds in SwiftPandas and 10 seconds in pandas. GroupBy with ten thousand groups is 84% faster.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resident-memory daemon is the most practically impactful feature. It's the same experience Jupyter gives Python users — parse once, explore many times — but you never leave your shell. Every transform runs in 15 milliseconds against data that's already in memory.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SwiftPandas is not a closed product. It's open source, Apache 2.0 licensed, and available on GitHub today. You can install it with Homebrew, embed it in a Swift app with one line in Package.swift, or use the precompiled XCFramework. I'll be releasing a dedicated technical deep-dive video shortly.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roadmap is honest and public. We know exactly what's needed to make the production analytics claim without asterisks: a stable API, streaming reads for multi-gigabyte files, Parquet support, daemon persistence, and a correctness baseline.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critical idea. We're entering an era where the most valuable thing is not the software — software gets cloned. It's not the model — models get commoditised. It's the hardware. Apple has put extraordinary compute into the hands of every data scientist who buys a Mac. SwiftPandas exists to unlock that compute. Locally. With data never leaving the machine. When we own the hardware our software runs on, we own the future.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best tool is the one that gets out of your way. When a GroupBy takes 1 millisecond instead of 6, you stop thinking about the tool and start thinking about the problem. That's what we're building toward. Stay tuned for the SwiftPandas deep-dive video.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Links are on the screen. Star the repo, try the brew install, and watch for the deep-dive video where I'll show you the full architecture and live benchmarks.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858000"/>
          </a:xfrm>
          <a:prstGeom prst="rect">
            <a:avLst/>
          </a:prstGeom>
          <a:gradFill>
            <a:gsLst>
              <a:gs pos="0">
                <a:srgbClr val="FF949A">
                  <a:alpha val="0"/>
                </a:srgbClr>
              </a:gs>
              <a:gs pos="45000">
                <a:srgbClr val="FF949A">
                  <a:alpha val="4000"/>
                </a:srgbClr>
              </a:gs>
              <a:gs pos="75000">
                <a:srgbClr val="FF949A">
                  <a:alpha val="22000"/>
                </a:srgbClr>
              </a:gs>
              <a:gs pos="100000">
                <a:srgbClr val="FF949A">
                  <a:alpha val="42000"/>
                </a:srgbClr>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5486400" cy="320040"/>
          </a:xfrm>
          <a:prstGeom prst="rect">
            <a:avLst/>
          </a:prstGeom>
          <a:noFill/>
        </p:spPr>
        <p:txBody>
          <a:bodyPr wrap="square">
            <a:spAutoFit/>
          </a:bodyPr>
          <a:lstStyle/>
          <a:p>
            <a:pPr algn="l"/>
            <a:r>
              <a:rPr sz="1100" b="0" i="0">
                <a:solidFill>
                  <a:srgbClr val="00D0A3"/>
                </a:solidFill>
                <a:latin typeface="Space Mono"/>
              </a:rPr>
              <a:t>00  ·  swiftpandas  ·  kiraa ai  ·  june 2026</a:t>
            </a:r>
          </a:p>
        </p:txBody>
      </p:sp>
      <p:sp>
        <p:nvSpPr>
          <p:cNvPr id="4" name="TextBox 3"/>
          <p:cNvSpPr txBox="1"/>
          <p:nvPr/>
        </p:nvSpPr>
        <p:spPr>
          <a:xfrm>
            <a:off x="548640" y="1005840"/>
            <a:ext cx="11338560" cy="2560320"/>
          </a:xfrm>
          <a:prstGeom prst="rect">
            <a:avLst/>
          </a:prstGeom>
          <a:noFill/>
        </p:spPr>
        <p:txBody>
          <a:bodyPr wrap="square">
            <a:spAutoFit/>
          </a:bodyPr>
          <a:lstStyle/>
          <a:p>
            <a:pPr algn="l"/>
            <a:r>
              <a:rPr sz="5800" b="1" i="0">
                <a:solidFill>
                  <a:srgbClr val="FFFFFF"/>
                </a:solidFill>
                <a:latin typeface="Manrope"/>
              </a:rPr>
              <a:t>The future of data belongs
to those who own the hardware.</a:t>
            </a:r>
          </a:p>
        </p:txBody>
      </p:sp>
      <p:sp>
        <p:nvSpPr>
          <p:cNvPr id="5" name="TextBox 4"/>
          <p:cNvSpPr txBox="1"/>
          <p:nvPr/>
        </p:nvSpPr>
        <p:spPr>
          <a:xfrm>
            <a:off x="548640" y="3566160"/>
            <a:ext cx="9144000" cy="640080"/>
          </a:xfrm>
          <a:prstGeom prst="rect">
            <a:avLst/>
          </a:prstGeom>
          <a:noFill/>
        </p:spPr>
        <p:txBody>
          <a:bodyPr wrap="square">
            <a:spAutoFit/>
          </a:bodyPr>
          <a:lstStyle/>
          <a:p>
            <a:pPr algn="l"/>
            <a:r>
              <a:rPr sz="2200" b="0" i="0">
                <a:solidFill>
                  <a:srgbClr val="FF949A"/>
                </a:solidFill>
                <a:latin typeface="Manrope"/>
              </a:rPr>
              <a:t>Why Apple silicon changes everything for data science.</a:t>
            </a:r>
          </a:p>
        </p:txBody>
      </p:sp>
      <p:sp>
        <p:nvSpPr>
          <p:cNvPr id="6" name="Rectangle 5"/>
          <p:cNvSpPr/>
          <p:nvPr/>
        </p:nvSpPr>
        <p:spPr>
          <a:xfrm>
            <a:off x="548640" y="4343400"/>
            <a:ext cx="11091672" cy="10972"/>
          </a:xfrm>
          <a:prstGeom prst="rect">
            <a:avLst/>
          </a:prstGeom>
          <a:solidFill>
            <a:srgbClr val="333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5486400" cy="320040"/>
          </a:xfrm>
          <a:prstGeom prst="rect">
            <a:avLst/>
          </a:prstGeom>
          <a:noFill/>
        </p:spPr>
        <p:txBody>
          <a:bodyPr wrap="square">
            <a:spAutoFit/>
          </a:bodyPr>
          <a:lstStyle/>
          <a:p>
            <a:pPr algn="l"/>
            <a:r>
              <a:rPr sz="1200" b="0" i="0">
                <a:solidFill>
                  <a:srgbClr val="666677"/>
                </a:solidFill>
                <a:latin typeface="Space Mono"/>
              </a:rPr>
              <a:t>kiraa ai  ·  sydney  ·  on-premise  ·  apple silicon</a:t>
            </a:r>
          </a:p>
        </p:txBody>
      </p:sp>
      <p:sp>
        <p:nvSpPr>
          <p:cNvPr id="8" name="TextBox 7"/>
          <p:cNvSpPr txBox="1"/>
          <p:nvPr/>
        </p:nvSpPr>
        <p:spPr>
          <a:xfrm>
            <a:off x="10789920" y="6355080"/>
            <a:ext cx="5486400" cy="320040"/>
          </a:xfrm>
          <a:prstGeom prst="rect">
            <a:avLst/>
          </a:prstGeom>
          <a:noFill/>
        </p:spPr>
        <p:txBody>
          <a:bodyPr wrap="square">
            <a:spAutoFit/>
          </a:bodyPr>
          <a:lstStyle/>
          <a:p>
            <a:pPr algn="l"/>
            <a:r>
              <a:rPr sz="1200" b="0" i="0">
                <a:solidFill>
                  <a:srgbClr val="666677"/>
                </a:solidFill>
                <a:latin typeface="Space Mono"/>
              </a:rPr>
              <a:t>v0.6.2-beta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457200"/>
            <a:ext cx="1005840" cy="438912"/>
          </a:xfrm>
          <a:prstGeom prst="rect">
            <a:avLst/>
          </a:prstGeom>
          <a:noFill/>
        </p:spPr>
        <p:txBody>
          <a:bodyPr wrap="square">
            <a:spAutoFit/>
          </a:bodyPr>
          <a:lstStyle/>
          <a:p>
            <a:pPr algn="l"/>
            <a:r>
              <a:rPr sz="2000" b="0" i="0">
                <a:solidFill>
                  <a:srgbClr val="00D0A3"/>
                </a:solidFill>
                <a:latin typeface="Space Mono"/>
              </a:rPr>
              <a:t>01</a:t>
            </a:r>
          </a:p>
        </p:txBody>
      </p:sp>
      <p:sp>
        <p:nvSpPr>
          <p:cNvPr id="3" name="TextBox 2"/>
          <p:cNvSpPr txBox="1"/>
          <p:nvPr/>
        </p:nvSpPr>
        <p:spPr>
          <a:xfrm>
            <a:off x="1691640" y="329184"/>
            <a:ext cx="10058400" cy="1234440"/>
          </a:xfrm>
          <a:prstGeom prst="rect">
            <a:avLst/>
          </a:prstGeom>
          <a:noFill/>
        </p:spPr>
        <p:txBody>
          <a:bodyPr wrap="square">
            <a:spAutoFit/>
          </a:bodyPr>
          <a:lstStyle/>
          <a:p>
            <a:pPr algn="l"/>
            <a:r>
              <a:rPr sz="3800" b="0" i="0">
                <a:solidFill>
                  <a:srgbClr val="FFFFFF"/>
                </a:solidFill>
                <a:latin typeface="Manrope"/>
              </a:rPr>
              <a:t>Python pandas: the tool that powered the data revolution.</a:t>
            </a:r>
          </a:p>
        </p:txBody>
      </p:sp>
      <p:sp>
        <p:nvSpPr>
          <p:cNvPr id="4" name="TextBox 3"/>
          <p:cNvSpPr txBox="1"/>
          <p:nvPr/>
        </p:nvSpPr>
        <p:spPr>
          <a:xfrm>
            <a:off x="1691640" y="1536192"/>
            <a:ext cx="9692640" cy="566928"/>
          </a:xfrm>
          <a:prstGeom prst="rect">
            <a:avLst/>
          </a:prstGeom>
          <a:noFill/>
        </p:spPr>
        <p:txBody>
          <a:bodyPr wrap="square">
            <a:spAutoFit/>
          </a:bodyPr>
          <a:lstStyle/>
          <a:p>
            <a:pPr algn="l"/>
            <a:r>
              <a:rPr sz="1900" b="0" i="0">
                <a:solidFill>
                  <a:srgbClr val="FF949A"/>
                </a:solidFill>
                <a:latin typeface="Manrope"/>
              </a:rPr>
              <a:t>A genuine breakthrough — 100 million downloads per month.</a:t>
            </a:r>
          </a:p>
        </p:txBody>
      </p:sp>
      <p:sp>
        <p:nvSpPr>
          <p:cNvPr id="5" name="TextBox 4"/>
          <p:cNvSpPr txBox="1"/>
          <p:nvPr/>
        </p:nvSpPr>
        <p:spPr>
          <a:xfrm>
            <a:off x="1691640" y="2331720"/>
            <a:ext cx="9692640" cy="402336"/>
          </a:xfrm>
          <a:prstGeom prst="rect">
            <a:avLst/>
          </a:prstGeom>
          <a:noFill/>
        </p:spPr>
        <p:txBody>
          <a:bodyPr wrap="square">
            <a:spAutoFit/>
          </a:bodyPr>
          <a:lstStyle/>
          <a:p>
            <a:pPr algn="l"/>
            <a:r>
              <a:rPr sz="1600" b="0" i="0">
                <a:solidFill>
                  <a:srgbClr val="BBBBC8"/>
                </a:solidFill>
                <a:latin typeface="DM Sans"/>
              </a:rPr>
              <a:t>—  Created in 2008 by Wes McKinney — a genuine breakthrough for the field</a:t>
            </a:r>
          </a:p>
        </p:txBody>
      </p:sp>
      <p:sp>
        <p:nvSpPr>
          <p:cNvPr id="6" name="TextBox 5"/>
          <p:cNvSpPr txBox="1"/>
          <p:nvPr/>
        </p:nvSpPr>
        <p:spPr>
          <a:xfrm>
            <a:off x="1691640" y="2761488"/>
            <a:ext cx="9692640" cy="402336"/>
          </a:xfrm>
          <a:prstGeom prst="rect">
            <a:avLst/>
          </a:prstGeom>
          <a:noFill/>
        </p:spPr>
        <p:txBody>
          <a:bodyPr wrap="square">
            <a:spAutoFit/>
          </a:bodyPr>
          <a:lstStyle/>
          <a:p>
            <a:pPr algn="l"/>
            <a:r>
              <a:rPr sz="1600" b="0" i="0">
                <a:solidFill>
                  <a:srgbClr val="BBBBC8"/>
                </a:solidFill>
                <a:latin typeface="DM Sans"/>
              </a:rPr>
              <a:t>—  100 million downloads per month — the lingua franca of data science</a:t>
            </a:r>
          </a:p>
        </p:txBody>
      </p:sp>
      <p:sp>
        <p:nvSpPr>
          <p:cNvPr id="7" name="TextBox 6"/>
          <p:cNvSpPr txBox="1"/>
          <p:nvPr/>
        </p:nvSpPr>
        <p:spPr>
          <a:xfrm>
            <a:off x="1691640" y="3191256"/>
            <a:ext cx="9692640" cy="402336"/>
          </a:xfrm>
          <a:prstGeom prst="rect">
            <a:avLst/>
          </a:prstGeom>
          <a:noFill/>
        </p:spPr>
        <p:txBody>
          <a:bodyPr wrap="square">
            <a:spAutoFit/>
          </a:bodyPr>
          <a:lstStyle/>
          <a:p>
            <a:pPr algn="l"/>
            <a:r>
              <a:rPr sz="1600" b="0" i="0">
                <a:solidFill>
                  <a:srgbClr val="BBBBC8"/>
                </a:solidFill>
                <a:latin typeface="DM Sans"/>
              </a:rPr>
              <a:t>—  df.groupby("region").mean() — intuitive, expressive, powerful</a:t>
            </a:r>
          </a:p>
        </p:txBody>
      </p:sp>
      <p:sp>
        <p:nvSpPr>
          <p:cNvPr id="8" name="TextBox 7"/>
          <p:cNvSpPr txBox="1"/>
          <p:nvPr/>
        </p:nvSpPr>
        <p:spPr>
          <a:xfrm>
            <a:off x="1691640" y="3621024"/>
            <a:ext cx="9692640" cy="402336"/>
          </a:xfrm>
          <a:prstGeom prst="rect">
            <a:avLst/>
          </a:prstGeom>
          <a:noFill/>
        </p:spPr>
        <p:txBody>
          <a:bodyPr wrap="square">
            <a:spAutoFit/>
          </a:bodyPr>
          <a:lstStyle/>
          <a:p>
            <a:pPr algn="l"/>
            <a:r>
              <a:rPr sz="1600" b="0" i="0">
                <a:solidFill>
                  <a:srgbClr val="BBBBC8"/>
                </a:solidFill>
                <a:latin typeface="DM Sans"/>
              </a:rPr>
              <a:t>—  Before pandas: R, SQL, and Perl duct tape. After pandas: clarity.</a:t>
            </a:r>
          </a:p>
        </p:txBody>
      </p:sp>
      <p:sp>
        <p:nvSpPr>
          <p:cNvPr id="9" name="Rectangle 8"/>
          <p:cNvSpPr/>
          <p:nvPr/>
        </p:nvSpPr>
        <p:spPr>
          <a:xfrm>
            <a:off x="548640" y="5029200"/>
            <a:ext cx="11091672" cy="10972"/>
          </a:xfrm>
          <a:prstGeom prst="rect">
            <a:avLst/>
          </a:prstGeom>
          <a:solidFill>
            <a:srgbClr val="FF9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175504"/>
            <a:ext cx="10881360" cy="868680"/>
          </a:xfrm>
          <a:prstGeom prst="rect">
            <a:avLst/>
          </a:prstGeom>
          <a:noFill/>
        </p:spPr>
        <p:txBody>
          <a:bodyPr wrap="square">
            <a:spAutoFit/>
          </a:bodyPr>
          <a:lstStyle/>
          <a:p>
            <a:pPr algn="l"/>
            <a:r>
              <a:rPr sz="2100" b="0" i="1">
                <a:solidFill>
                  <a:srgbClr val="FF949A"/>
                </a:solidFill>
                <a:latin typeface="Manrope"/>
              </a:rPr>
              <a:t>We built this whole industry on it.</a:t>
            </a:r>
          </a:p>
        </p:txBody>
      </p:sp>
      <p:sp>
        <p:nvSpPr>
          <p:cNvPr id="11" name="TextBox 10"/>
          <p:cNvSpPr txBox="1"/>
          <p:nvPr/>
        </p:nvSpPr>
        <p:spPr>
          <a:xfrm>
            <a:off x="685800" y="6016752"/>
            <a:ext cx="10881360" cy="320040"/>
          </a:xfrm>
          <a:prstGeom prst="rect">
            <a:avLst/>
          </a:prstGeom>
          <a:noFill/>
        </p:spPr>
        <p:txBody>
          <a:bodyPr wrap="square">
            <a:spAutoFit/>
          </a:bodyPr>
          <a:lstStyle/>
          <a:p>
            <a:pPr algn="l"/>
            <a:r>
              <a:rPr sz="1100" b="0" i="0">
                <a:solidFill>
                  <a:srgbClr val="666677"/>
                </a:solidFill>
                <a:latin typeface="Space Mono"/>
              </a:rPr>
              <a:t>— credit where it's due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457200"/>
            <a:ext cx="1005840" cy="438912"/>
          </a:xfrm>
          <a:prstGeom prst="rect">
            <a:avLst/>
          </a:prstGeom>
          <a:noFill/>
        </p:spPr>
        <p:txBody>
          <a:bodyPr wrap="square">
            <a:spAutoFit/>
          </a:bodyPr>
          <a:lstStyle/>
          <a:p>
            <a:pPr algn="l"/>
            <a:r>
              <a:rPr sz="2000" b="0" i="0">
                <a:solidFill>
                  <a:srgbClr val="00D0A3"/>
                </a:solidFill>
                <a:latin typeface="Space Mono"/>
              </a:rPr>
              <a:t>02</a:t>
            </a:r>
          </a:p>
        </p:txBody>
      </p:sp>
      <p:sp>
        <p:nvSpPr>
          <p:cNvPr id="3" name="TextBox 2"/>
          <p:cNvSpPr txBox="1"/>
          <p:nvPr/>
        </p:nvSpPr>
        <p:spPr>
          <a:xfrm>
            <a:off x="1691640" y="329184"/>
            <a:ext cx="10058400" cy="1234440"/>
          </a:xfrm>
          <a:prstGeom prst="rect">
            <a:avLst/>
          </a:prstGeom>
          <a:noFill/>
        </p:spPr>
        <p:txBody>
          <a:bodyPr wrap="square">
            <a:spAutoFit/>
          </a:bodyPr>
          <a:lstStyle/>
          <a:p>
            <a:pPr algn="l"/>
            <a:r>
              <a:rPr sz="3800" b="0" i="0">
                <a:solidFill>
                  <a:srgbClr val="FFFFFF"/>
                </a:solidFill>
                <a:latin typeface="Manrope"/>
              </a:rPr>
              <a:t>But pandas was built for a different era.</a:t>
            </a:r>
          </a:p>
        </p:txBody>
      </p:sp>
      <p:sp>
        <p:nvSpPr>
          <p:cNvPr id="4" name="TextBox 3"/>
          <p:cNvSpPr txBox="1"/>
          <p:nvPr/>
        </p:nvSpPr>
        <p:spPr>
          <a:xfrm>
            <a:off x="1691640" y="1536192"/>
            <a:ext cx="9692640" cy="566928"/>
          </a:xfrm>
          <a:prstGeom prst="rect">
            <a:avLst/>
          </a:prstGeom>
          <a:noFill/>
        </p:spPr>
        <p:txBody>
          <a:bodyPr wrap="square">
            <a:spAutoFit/>
          </a:bodyPr>
          <a:lstStyle/>
          <a:p>
            <a:pPr algn="l"/>
            <a:r>
              <a:rPr sz="1900" b="0" i="0">
                <a:solidFill>
                  <a:srgbClr val="FF949A"/>
                </a:solidFill>
                <a:latin typeface="Manrope"/>
              </a:rPr>
              <a:t>Designed in 2008 — the world it was built for no longer exists.</a:t>
            </a:r>
          </a:p>
        </p:txBody>
      </p:sp>
      <p:sp>
        <p:nvSpPr>
          <p:cNvPr id="5" name="TextBox 4"/>
          <p:cNvSpPr txBox="1"/>
          <p:nvPr/>
        </p:nvSpPr>
        <p:spPr>
          <a:xfrm>
            <a:off x="1691640" y="2331720"/>
            <a:ext cx="9692640" cy="402336"/>
          </a:xfrm>
          <a:prstGeom prst="rect">
            <a:avLst/>
          </a:prstGeom>
          <a:noFill/>
        </p:spPr>
        <p:txBody>
          <a:bodyPr wrap="square">
            <a:spAutoFit/>
          </a:bodyPr>
          <a:lstStyle/>
          <a:p>
            <a:pPr algn="l"/>
            <a:r>
              <a:rPr sz="1600" b="0" i="0">
                <a:solidFill>
                  <a:srgbClr val="BBBBC8"/>
                </a:solidFill>
                <a:latin typeface="DM Sans"/>
              </a:rPr>
              <a:t>—  Designed when a laptop had 2 GB of RAM and datasets had millions of rows</a:t>
            </a:r>
          </a:p>
        </p:txBody>
      </p:sp>
      <p:sp>
        <p:nvSpPr>
          <p:cNvPr id="6" name="TextBox 5"/>
          <p:cNvSpPr txBox="1"/>
          <p:nvPr/>
        </p:nvSpPr>
        <p:spPr>
          <a:xfrm>
            <a:off x="1691640" y="2761488"/>
            <a:ext cx="9692640" cy="402336"/>
          </a:xfrm>
          <a:prstGeom prst="rect">
            <a:avLst/>
          </a:prstGeom>
          <a:noFill/>
        </p:spPr>
        <p:txBody>
          <a:bodyPr wrap="square">
            <a:spAutoFit/>
          </a:bodyPr>
          <a:lstStyle/>
          <a:p>
            <a:pPr algn="l"/>
            <a:r>
              <a:rPr sz="1600" b="0" i="0">
                <a:solidFill>
                  <a:srgbClr val="BBBBC8"/>
                </a:solidFill>
                <a:latin typeface="DM Sans"/>
              </a:rPr>
              <a:t>—  Built on CPython — single-threaded, global interpreter lock</a:t>
            </a:r>
          </a:p>
        </p:txBody>
      </p:sp>
      <p:sp>
        <p:nvSpPr>
          <p:cNvPr id="7" name="TextBox 6"/>
          <p:cNvSpPr txBox="1"/>
          <p:nvPr/>
        </p:nvSpPr>
        <p:spPr>
          <a:xfrm>
            <a:off x="1691640" y="3191256"/>
            <a:ext cx="9692640" cy="402336"/>
          </a:xfrm>
          <a:prstGeom prst="rect">
            <a:avLst/>
          </a:prstGeom>
          <a:noFill/>
        </p:spPr>
        <p:txBody>
          <a:bodyPr wrap="square">
            <a:spAutoFit/>
          </a:bodyPr>
          <a:lstStyle/>
          <a:p>
            <a:pPr algn="l"/>
            <a:r>
              <a:rPr sz="1600" b="1" i="0">
                <a:solidFill>
                  <a:srgbClr val="FF949A"/>
                </a:solidFill>
                <a:latin typeface="DM Sans"/>
              </a:rPr>
              <a:t>  ~600 ms import tax on every single script invocation</a:t>
            </a:r>
          </a:p>
        </p:txBody>
      </p:sp>
      <p:sp>
        <p:nvSpPr>
          <p:cNvPr id="8" name="TextBox 7"/>
          <p:cNvSpPr txBox="1"/>
          <p:nvPr/>
        </p:nvSpPr>
        <p:spPr>
          <a:xfrm>
            <a:off x="1691640" y="3621024"/>
            <a:ext cx="9692640" cy="402336"/>
          </a:xfrm>
          <a:prstGeom prst="rect">
            <a:avLst/>
          </a:prstGeom>
          <a:noFill/>
        </p:spPr>
        <p:txBody>
          <a:bodyPr wrap="square">
            <a:spAutoFit/>
          </a:bodyPr>
          <a:lstStyle/>
          <a:p>
            <a:pPr algn="l"/>
            <a:r>
              <a:rPr sz="1600" b="0" i="0">
                <a:solidFill>
                  <a:srgbClr val="BBBBC8"/>
                </a:solidFill>
                <a:latin typeface="DM Sans"/>
              </a:rPr>
              <a:t>—  Memory usage doubles your dataset — constant intermediate allocations</a:t>
            </a:r>
          </a:p>
        </p:txBody>
      </p:sp>
      <p:sp>
        <p:nvSpPr>
          <p:cNvPr id="9" name="TextBox 8"/>
          <p:cNvSpPr txBox="1"/>
          <p:nvPr/>
        </p:nvSpPr>
        <p:spPr>
          <a:xfrm>
            <a:off x="1691640" y="4050792"/>
            <a:ext cx="9692640" cy="402336"/>
          </a:xfrm>
          <a:prstGeom prst="rect">
            <a:avLst/>
          </a:prstGeom>
          <a:noFill/>
        </p:spPr>
        <p:txBody>
          <a:bodyPr wrap="square">
            <a:spAutoFit/>
          </a:bodyPr>
          <a:lstStyle/>
          <a:p>
            <a:pPr algn="l"/>
            <a:r>
              <a:rPr sz="1600" b="0" i="0">
                <a:solidFill>
                  <a:srgbClr val="BBBBC8"/>
                </a:solidFill>
                <a:latin typeface="DM Sans"/>
              </a:rPr>
              <a:t>—  No GPU. No SIMD awareness. No lazy evaluation by default.</a:t>
            </a:r>
          </a:p>
        </p:txBody>
      </p:sp>
      <p:sp>
        <p:nvSpPr>
          <p:cNvPr id="10" name="Rectangle 9"/>
          <p:cNvSpPr/>
          <p:nvPr/>
        </p:nvSpPr>
        <p:spPr>
          <a:xfrm>
            <a:off x="548640" y="5212080"/>
            <a:ext cx="11091672" cy="777240"/>
          </a:xfrm>
          <a:prstGeom prst="rect">
            <a:avLst/>
          </a:prstGeom>
          <a:solidFill>
            <a:srgbClr val="1A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5212080"/>
            <a:ext cx="54864" cy="777240"/>
          </a:xfrm>
          <a:prstGeom prst="rect">
            <a:avLst/>
          </a:prstGeom>
          <a:solidFill>
            <a:srgbClr val="FF9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321808"/>
            <a:ext cx="10698480" cy="502920"/>
          </a:xfrm>
          <a:prstGeom prst="rect">
            <a:avLst/>
          </a:prstGeom>
          <a:noFill/>
        </p:spPr>
        <p:txBody>
          <a:bodyPr wrap="square">
            <a:spAutoFit/>
          </a:bodyPr>
          <a:lstStyle/>
          <a:p>
            <a:pPr algn="l"/>
            <a:r>
              <a:rPr sz="1500" b="0" i="0">
                <a:solidFill>
                  <a:srgbClr val="FF949A"/>
                </a:solidFill>
                <a:latin typeface="Space Mono"/>
              </a:rPr>
              <a:t>import pandas  ≈  600 ms  —  before a single row of data is touched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457200"/>
            <a:ext cx="1005840" cy="438912"/>
          </a:xfrm>
          <a:prstGeom prst="rect">
            <a:avLst/>
          </a:prstGeom>
          <a:noFill/>
        </p:spPr>
        <p:txBody>
          <a:bodyPr wrap="square">
            <a:spAutoFit/>
          </a:bodyPr>
          <a:lstStyle/>
          <a:p>
            <a:pPr algn="l"/>
            <a:r>
              <a:rPr sz="2000" b="0" i="0">
                <a:solidFill>
                  <a:srgbClr val="00D0A3"/>
                </a:solidFill>
                <a:latin typeface="Space Mono"/>
              </a:rPr>
              <a:t>03</a:t>
            </a:r>
          </a:p>
        </p:txBody>
      </p:sp>
      <p:sp>
        <p:nvSpPr>
          <p:cNvPr id="3" name="TextBox 2"/>
          <p:cNvSpPr txBox="1"/>
          <p:nvPr/>
        </p:nvSpPr>
        <p:spPr>
          <a:xfrm>
            <a:off x="1691640" y="329184"/>
            <a:ext cx="10058400" cy="1234440"/>
          </a:xfrm>
          <a:prstGeom prst="rect">
            <a:avLst/>
          </a:prstGeom>
          <a:noFill/>
        </p:spPr>
        <p:txBody>
          <a:bodyPr wrap="square">
            <a:spAutoFit/>
          </a:bodyPr>
          <a:lstStyle/>
          <a:p>
            <a:pPr algn="l"/>
            <a:r>
              <a:rPr sz="3800" b="0" i="0">
                <a:solidFill>
                  <a:srgbClr val="FFFFFF"/>
                </a:solidFill>
                <a:latin typeface="Manrope"/>
              </a:rPr>
              <a:t>The pandas tax is real.</a:t>
            </a:r>
          </a:p>
        </p:txBody>
      </p:sp>
      <p:sp>
        <p:nvSpPr>
          <p:cNvPr id="4" name="TextBox 3"/>
          <p:cNvSpPr txBox="1"/>
          <p:nvPr/>
        </p:nvSpPr>
        <p:spPr>
          <a:xfrm>
            <a:off x="1691640" y="1536192"/>
            <a:ext cx="9692640" cy="566928"/>
          </a:xfrm>
          <a:prstGeom prst="rect">
            <a:avLst/>
          </a:prstGeom>
          <a:noFill/>
        </p:spPr>
        <p:txBody>
          <a:bodyPr wrap="square">
            <a:spAutoFit/>
          </a:bodyPr>
          <a:lstStyle/>
          <a:p>
            <a:pPr algn="l"/>
            <a:r>
              <a:rPr sz="1900" b="0" i="0">
                <a:solidFill>
                  <a:srgbClr val="FF949A"/>
                </a:solidFill>
                <a:latin typeface="Manrope"/>
              </a:rPr>
              <a:t>Measured on a 5 MB CSV — ten transforms in a row.</a:t>
            </a:r>
          </a:p>
        </p:txBody>
      </p:sp>
      <p:sp>
        <p:nvSpPr>
          <p:cNvPr id="5" name="Rectangle 4"/>
          <p:cNvSpPr/>
          <p:nvPr/>
        </p:nvSpPr>
        <p:spPr>
          <a:xfrm>
            <a:off x="548640" y="2240280"/>
            <a:ext cx="5349240" cy="365760"/>
          </a:xfrm>
          <a:prstGeom prst="rect">
            <a:avLst/>
          </a:prstGeom>
          <a:solidFill>
            <a:srgbClr val="1A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240280"/>
            <a:ext cx="45720" cy="365760"/>
          </a:xfrm>
          <a:prstGeom prst="rect">
            <a:avLst/>
          </a:prstGeom>
          <a:solidFill>
            <a:srgbClr val="FF9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304288"/>
            <a:ext cx="5029200" cy="320040"/>
          </a:xfrm>
          <a:prstGeom prst="rect">
            <a:avLst/>
          </a:prstGeom>
          <a:noFill/>
        </p:spPr>
        <p:txBody>
          <a:bodyPr wrap="square">
            <a:spAutoFit/>
          </a:bodyPr>
          <a:lstStyle/>
          <a:p>
            <a:pPr algn="l"/>
            <a:r>
              <a:rPr sz="1200" b="0" i="0">
                <a:solidFill>
                  <a:srgbClr val="FF949A"/>
                </a:solidFill>
                <a:latin typeface="Space Mono"/>
              </a:rPr>
              <a:t>Python + pandas (10 transforms)</a:t>
            </a:r>
          </a:p>
        </p:txBody>
      </p:sp>
      <p:sp>
        <p:nvSpPr>
          <p:cNvPr id="8" name="TextBox 7"/>
          <p:cNvSpPr txBox="1"/>
          <p:nvPr/>
        </p:nvSpPr>
        <p:spPr>
          <a:xfrm>
            <a:off x="685800" y="2670048"/>
            <a:ext cx="3657600" cy="420624"/>
          </a:xfrm>
          <a:prstGeom prst="rect">
            <a:avLst/>
          </a:prstGeom>
          <a:noFill/>
        </p:spPr>
        <p:txBody>
          <a:bodyPr wrap="square">
            <a:spAutoFit/>
          </a:bodyPr>
          <a:lstStyle/>
          <a:p>
            <a:pPr algn="l"/>
            <a:r>
              <a:rPr sz="1500" b="0" i="0">
                <a:solidFill>
                  <a:srgbClr val="BBBBC8"/>
                </a:solidFill>
                <a:latin typeface="DM Sans"/>
              </a:rPr>
              <a:t>import pandas  ×  10 runs</a:t>
            </a:r>
          </a:p>
        </p:txBody>
      </p:sp>
      <p:sp>
        <p:nvSpPr>
          <p:cNvPr id="9" name="TextBox 8"/>
          <p:cNvSpPr txBox="1"/>
          <p:nvPr/>
        </p:nvSpPr>
        <p:spPr>
          <a:xfrm>
            <a:off x="4343400" y="2670048"/>
            <a:ext cx="1463040" cy="420624"/>
          </a:xfrm>
          <a:prstGeom prst="rect">
            <a:avLst/>
          </a:prstGeom>
          <a:noFill/>
        </p:spPr>
        <p:txBody>
          <a:bodyPr wrap="square">
            <a:spAutoFit/>
          </a:bodyPr>
          <a:lstStyle/>
          <a:p>
            <a:pPr algn="r"/>
            <a:r>
              <a:rPr sz="1500" b="0" i="0">
                <a:solidFill>
                  <a:srgbClr val="BBBBC8"/>
                </a:solidFill>
                <a:latin typeface="Space Mono"/>
              </a:rPr>
              <a:t>6,000 ms</a:t>
            </a:r>
          </a:p>
        </p:txBody>
      </p:sp>
      <p:sp>
        <p:nvSpPr>
          <p:cNvPr id="10" name="TextBox 9"/>
          <p:cNvSpPr txBox="1"/>
          <p:nvPr/>
        </p:nvSpPr>
        <p:spPr>
          <a:xfrm>
            <a:off x="685800" y="3145536"/>
            <a:ext cx="3657600" cy="420624"/>
          </a:xfrm>
          <a:prstGeom prst="rect">
            <a:avLst/>
          </a:prstGeom>
          <a:noFill/>
        </p:spPr>
        <p:txBody>
          <a:bodyPr wrap="square">
            <a:spAutoFit/>
          </a:bodyPr>
          <a:lstStyle/>
          <a:p>
            <a:pPr algn="l"/>
            <a:r>
              <a:rPr sz="1500" b="0" i="0">
                <a:solidFill>
                  <a:srgbClr val="BBBBC8"/>
                </a:solidFill>
                <a:latin typeface="DM Sans"/>
              </a:rPr>
              <a:t>CSV re-parse  ×  10 runs</a:t>
            </a:r>
          </a:p>
        </p:txBody>
      </p:sp>
      <p:sp>
        <p:nvSpPr>
          <p:cNvPr id="11" name="TextBox 10"/>
          <p:cNvSpPr txBox="1"/>
          <p:nvPr/>
        </p:nvSpPr>
        <p:spPr>
          <a:xfrm>
            <a:off x="4343400" y="3145536"/>
            <a:ext cx="1463040" cy="420624"/>
          </a:xfrm>
          <a:prstGeom prst="rect">
            <a:avLst/>
          </a:prstGeom>
          <a:noFill/>
        </p:spPr>
        <p:txBody>
          <a:bodyPr wrap="square">
            <a:spAutoFit/>
          </a:bodyPr>
          <a:lstStyle/>
          <a:p>
            <a:pPr algn="r"/>
            <a:r>
              <a:rPr sz="1500" b="0" i="0">
                <a:solidFill>
                  <a:srgbClr val="BBBBC8"/>
                </a:solidFill>
                <a:latin typeface="Space Mono"/>
              </a:rPr>
              <a:t>1,200 ms</a:t>
            </a:r>
          </a:p>
        </p:txBody>
      </p:sp>
      <p:sp>
        <p:nvSpPr>
          <p:cNvPr id="12" name="TextBox 11"/>
          <p:cNvSpPr txBox="1"/>
          <p:nvPr/>
        </p:nvSpPr>
        <p:spPr>
          <a:xfrm>
            <a:off x="685800" y="3621024"/>
            <a:ext cx="3657600" cy="420624"/>
          </a:xfrm>
          <a:prstGeom prst="rect">
            <a:avLst/>
          </a:prstGeom>
          <a:noFill/>
        </p:spPr>
        <p:txBody>
          <a:bodyPr wrap="square">
            <a:spAutoFit/>
          </a:bodyPr>
          <a:lstStyle/>
          <a:p>
            <a:pPr algn="l"/>
            <a:r>
              <a:rPr sz="1500" b="0" i="0">
                <a:solidFill>
                  <a:srgbClr val="BBBBC8"/>
                </a:solidFill>
                <a:latin typeface="DM Sans"/>
              </a:rPr>
              <a:t>Actual compute</a:t>
            </a:r>
          </a:p>
        </p:txBody>
      </p:sp>
      <p:sp>
        <p:nvSpPr>
          <p:cNvPr id="13" name="TextBox 12"/>
          <p:cNvSpPr txBox="1"/>
          <p:nvPr/>
        </p:nvSpPr>
        <p:spPr>
          <a:xfrm>
            <a:off x="4343400" y="3621024"/>
            <a:ext cx="1463040" cy="420624"/>
          </a:xfrm>
          <a:prstGeom prst="rect">
            <a:avLst/>
          </a:prstGeom>
          <a:noFill/>
        </p:spPr>
        <p:txBody>
          <a:bodyPr wrap="square">
            <a:spAutoFit/>
          </a:bodyPr>
          <a:lstStyle/>
          <a:p>
            <a:pPr algn="r"/>
            <a:r>
              <a:rPr sz="1500" b="0" i="0">
                <a:solidFill>
                  <a:srgbClr val="BBBBC8"/>
                </a:solidFill>
                <a:latin typeface="Space Mono"/>
              </a:rPr>
              <a:t>~150 ms</a:t>
            </a:r>
          </a:p>
        </p:txBody>
      </p:sp>
      <p:sp>
        <p:nvSpPr>
          <p:cNvPr id="14" name="TextBox 13"/>
          <p:cNvSpPr txBox="1"/>
          <p:nvPr/>
        </p:nvSpPr>
        <p:spPr>
          <a:xfrm>
            <a:off x="685800" y="4096512"/>
            <a:ext cx="3657600" cy="420624"/>
          </a:xfrm>
          <a:prstGeom prst="rect">
            <a:avLst/>
          </a:prstGeom>
          <a:noFill/>
        </p:spPr>
        <p:txBody>
          <a:bodyPr wrap="square">
            <a:spAutoFit/>
          </a:bodyPr>
          <a:lstStyle/>
          <a:p>
            <a:pPr algn="l"/>
            <a:r>
              <a:rPr sz="1500" b="1" i="0">
                <a:solidFill>
                  <a:srgbClr val="FF949A"/>
                </a:solidFill>
                <a:latin typeface="DM Sans"/>
              </a:rPr>
              <a:t>Total wall clock</a:t>
            </a:r>
          </a:p>
        </p:txBody>
      </p:sp>
      <p:sp>
        <p:nvSpPr>
          <p:cNvPr id="15" name="TextBox 14"/>
          <p:cNvSpPr txBox="1"/>
          <p:nvPr/>
        </p:nvSpPr>
        <p:spPr>
          <a:xfrm>
            <a:off x="4343400" y="4096512"/>
            <a:ext cx="1463040" cy="420624"/>
          </a:xfrm>
          <a:prstGeom prst="rect">
            <a:avLst/>
          </a:prstGeom>
          <a:noFill/>
        </p:spPr>
        <p:txBody>
          <a:bodyPr wrap="square">
            <a:spAutoFit/>
          </a:bodyPr>
          <a:lstStyle/>
          <a:p>
            <a:pPr algn="r"/>
            <a:r>
              <a:rPr sz="1500" b="1" i="0">
                <a:solidFill>
                  <a:srgbClr val="FF949A"/>
                </a:solidFill>
                <a:latin typeface="Space Mono"/>
              </a:rPr>
              <a:t>≈ 8.2 seconds</a:t>
            </a:r>
          </a:p>
        </p:txBody>
      </p:sp>
      <p:sp>
        <p:nvSpPr>
          <p:cNvPr id="16" name="Rectangle 15"/>
          <p:cNvSpPr/>
          <p:nvPr/>
        </p:nvSpPr>
        <p:spPr>
          <a:xfrm>
            <a:off x="6492240" y="2240280"/>
            <a:ext cx="5166360" cy="365760"/>
          </a:xfrm>
          <a:prstGeom prst="rect">
            <a:avLst/>
          </a:prstGeom>
          <a:solidFill>
            <a:srgbClr val="081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92240" y="2240280"/>
            <a:ext cx="45720" cy="365760"/>
          </a:xfrm>
          <a:prstGeom prst="rect">
            <a:avLst/>
          </a:prstGeom>
          <a:solidFill>
            <a:srgbClr val="00D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400" y="2304288"/>
            <a:ext cx="4846320" cy="320040"/>
          </a:xfrm>
          <a:prstGeom prst="rect">
            <a:avLst/>
          </a:prstGeom>
          <a:noFill/>
        </p:spPr>
        <p:txBody>
          <a:bodyPr wrap="square">
            <a:spAutoFit/>
          </a:bodyPr>
          <a:lstStyle/>
          <a:p>
            <a:pPr algn="l"/>
            <a:r>
              <a:rPr sz="1200" b="0" i="0">
                <a:solidFill>
                  <a:srgbClr val="00D0A3"/>
                </a:solidFill>
                <a:latin typeface="Space Mono"/>
              </a:rPr>
              <a:t>What professionals actually need</a:t>
            </a:r>
          </a:p>
        </p:txBody>
      </p:sp>
      <p:sp>
        <p:nvSpPr>
          <p:cNvPr id="19" name="TextBox 18"/>
          <p:cNvSpPr txBox="1"/>
          <p:nvPr/>
        </p:nvSpPr>
        <p:spPr>
          <a:xfrm>
            <a:off x="6629400" y="2670048"/>
            <a:ext cx="4937760" cy="420624"/>
          </a:xfrm>
          <a:prstGeom prst="rect">
            <a:avLst/>
          </a:prstGeom>
          <a:noFill/>
        </p:spPr>
        <p:txBody>
          <a:bodyPr wrap="square">
            <a:spAutoFit/>
          </a:bodyPr>
          <a:lstStyle/>
          <a:p>
            <a:pPr algn="l"/>
            <a:r>
              <a:rPr sz="1500" b="0" i="0">
                <a:solidFill>
                  <a:srgbClr val="00D0A3"/>
                </a:solidFill>
                <a:latin typeface="DM Sans"/>
              </a:rPr>
              <a:t>✓  Load once, query many times</a:t>
            </a:r>
          </a:p>
        </p:txBody>
      </p:sp>
      <p:sp>
        <p:nvSpPr>
          <p:cNvPr id="20" name="TextBox 19"/>
          <p:cNvSpPr txBox="1"/>
          <p:nvPr/>
        </p:nvSpPr>
        <p:spPr>
          <a:xfrm>
            <a:off x="6629400" y="3145536"/>
            <a:ext cx="4937760" cy="420624"/>
          </a:xfrm>
          <a:prstGeom prst="rect">
            <a:avLst/>
          </a:prstGeom>
          <a:noFill/>
        </p:spPr>
        <p:txBody>
          <a:bodyPr wrap="square">
            <a:spAutoFit/>
          </a:bodyPr>
          <a:lstStyle/>
          <a:p>
            <a:pPr algn="l"/>
            <a:r>
              <a:rPr sz="1500" b="0" i="0">
                <a:solidFill>
                  <a:srgbClr val="00D0A3"/>
                </a:solidFill>
                <a:latin typeface="DM Sans"/>
              </a:rPr>
              <a:t>✓  Sub-second interactive exploration</a:t>
            </a:r>
          </a:p>
        </p:txBody>
      </p:sp>
      <p:sp>
        <p:nvSpPr>
          <p:cNvPr id="21" name="TextBox 20"/>
          <p:cNvSpPr txBox="1"/>
          <p:nvPr/>
        </p:nvSpPr>
        <p:spPr>
          <a:xfrm>
            <a:off x="6629400" y="3621024"/>
            <a:ext cx="4937760" cy="420624"/>
          </a:xfrm>
          <a:prstGeom prst="rect">
            <a:avLst/>
          </a:prstGeom>
          <a:noFill/>
        </p:spPr>
        <p:txBody>
          <a:bodyPr wrap="square">
            <a:spAutoFit/>
          </a:bodyPr>
          <a:lstStyle/>
          <a:p>
            <a:pPr algn="l"/>
            <a:r>
              <a:rPr sz="1500" b="0" i="0">
                <a:solidFill>
                  <a:srgbClr val="00D0A3"/>
                </a:solidFill>
                <a:latin typeface="DM Sans"/>
              </a:rPr>
              <a:t>✓  Multi-GB files without crashing</a:t>
            </a:r>
          </a:p>
        </p:txBody>
      </p:sp>
      <p:sp>
        <p:nvSpPr>
          <p:cNvPr id="22" name="TextBox 21"/>
          <p:cNvSpPr txBox="1"/>
          <p:nvPr/>
        </p:nvSpPr>
        <p:spPr>
          <a:xfrm>
            <a:off x="6629400" y="4096512"/>
            <a:ext cx="4937760" cy="420624"/>
          </a:xfrm>
          <a:prstGeom prst="rect">
            <a:avLst/>
          </a:prstGeom>
          <a:noFill/>
        </p:spPr>
        <p:txBody>
          <a:bodyPr wrap="square">
            <a:spAutoFit/>
          </a:bodyPr>
          <a:lstStyle/>
          <a:p>
            <a:pPr algn="l"/>
            <a:r>
              <a:rPr sz="1500" b="0" i="0">
                <a:solidFill>
                  <a:srgbClr val="00D0A3"/>
                </a:solidFill>
                <a:latin typeface="DM Sans"/>
              </a:rPr>
              <a:t>✓  Production use without a Python runtime</a:t>
            </a:r>
          </a:p>
        </p:txBody>
      </p:sp>
      <p:sp>
        <p:nvSpPr>
          <p:cNvPr id="23" name="TextBox 22"/>
          <p:cNvSpPr txBox="1"/>
          <p:nvPr/>
        </p:nvSpPr>
        <p:spPr>
          <a:xfrm>
            <a:off x="6629400" y="4572000"/>
            <a:ext cx="4937760" cy="420624"/>
          </a:xfrm>
          <a:prstGeom prst="rect">
            <a:avLst/>
          </a:prstGeom>
          <a:noFill/>
        </p:spPr>
        <p:txBody>
          <a:bodyPr wrap="square">
            <a:spAutoFit/>
          </a:bodyPr>
          <a:lstStyle/>
          <a:p>
            <a:pPr algn="l"/>
            <a:r>
              <a:rPr sz="1500" b="0" i="0">
                <a:solidFill>
                  <a:srgbClr val="00D0A3"/>
                </a:solidFill>
                <a:latin typeface="DM Sans"/>
              </a:rPr>
              <a:t>✓  No import tax. No re-parse. No GIL.</a:t>
            </a:r>
          </a:p>
        </p:txBody>
      </p:sp>
      <p:sp>
        <p:nvSpPr>
          <p:cNvPr id="24" name="Rectangle 23"/>
          <p:cNvSpPr/>
          <p:nvPr/>
        </p:nvSpPr>
        <p:spPr>
          <a:xfrm>
            <a:off x="548640" y="4846320"/>
            <a:ext cx="11091672" cy="10972"/>
          </a:xfrm>
          <a:prstGeom prst="rect">
            <a:avLst/>
          </a:prstGeom>
          <a:solidFill>
            <a:srgbClr val="282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4956048"/>
            <a:ext cx="11091672" cy="502920"/>
          </a:xfrm>
          <a:prstGeom prst="rect">
            <a:avLst/>
          </a:prstGeom>
          <a:noFill/>
        </p:spPr>
        <p:txBody>
          <a:bodyPr wrap="square">
            <a:spAutoFit/>
          </a:bodyPr>
          <a:lstStyle/>
          <a:p>
            <a:pPr algn="ctr"/>
            <a:r>
              <a:rPr sz="2000" b="1" i="0">
                <a:solidFill>
                  <a:srgbClr val="FFFFFF"/>
                </a:solidFill>
                <a:latin typeface="Manrope"/>
              </a:rPr>
              <a:t>Data scientists deserve tools that match their skill and their hardware.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457200"/>
            <a:ext cx="1005840" cy="438912"/>
          </a:xfrm>
          <a:prstGeom prst="rect">
            <a:avLst/>
          </a:prstGeom>
          <a:noFill/>
        </p:spPr>
        <p:txBody>
          <a:bodyPr wrap="square">
            <a:spAutoFit/>
          </a:bodyPr>
          <a:lstStyle/>
          <a:p>
            <a:pPr algn="l"/>
            <a:r>
              <a:rPr sz="2000" b="0" i="0">
                <a:solidFill>
                  <a:srgbClr val="00D0A3"/>
                </a:solidFill>
                <a:latin typeface="Space Mono"/>
              </a:rPr>
              <a:t>04</a:t>
            </a:r>
          </a:p>
        </p:txBody>
      </p:sp>
      <p:sp>
        <p:nvSpPr>
          <p:cNvPr id="3" name="TextBox 2"/>
          <p:cNvSpPr txBox="1"/>
          <p:nvPr/>
        </p:nvSpPr>
        <p:spPr>
          <a:xfrm>
            <a:off x="1691640" y="329184"/>
            <a:ext cx="10058400" cy="1234440"/>
          </a:xfrm>
          <a:prstGeom prst="rect">
            <a:avLst/>
          </a:prstGeom>
          <a:noFill/>
        </p:spPr>
        <p:txBody>
          <a:bodyPr wrap="square">
            <a:spAutoFit/>
          </a:bodyPr>
          <a:lstStyle/>
          <a:p>
            <a:pPr algn="l"/>
            <a:r>
              <a:rPr sz="3800" b="0" i="0">
                <a:solidFill>
                  <a:srgbClr val="FFFFFF"/>
                </a:solidFill>
                <a:latin typeface="Manrope"/>
              </a:rPr>
              <a:t>Data scientists deserve better tools.</a:t>
            </a:r>
          </a:p>
        </p:txBody>
      </p:sp>
      <p:sp>
        <p:nvSpPr>
          <p:cNvPr id="4" name="TextBox 3"/>
          <p:cNvSpPr txBox="1"/>
          <p:nvPr/>
        </p:nvSpPr>
        <p:spPr>
          <a:xfrm>
            <a:off x="1691640" y="1536192"/>
            <a:ext cx="9692640" cy="566928"/>
          </a:xfrm>
          <a:prstGeom prst="rect">
            <a:avLst/>
          </a:prstGeom>
          <a:noFill/>
        </p:spPr>
        <p:txBody>
          <a:bodyPr wrap="square">
            <a:spAutoFit/>
          </a:bodyPr>
          <a:lstStyle/>
          <a:p>
            <a:pPr algn="l"/>
            <a:r>
              <a:rPr sz="1900" b="0" i="0">
                <a:solidFill>
                  <a:srgbClr val="FF949A"/>
                </a:solidFill>
                <a:latin typeface="Manrope"/>
              </a:rPr>
              <a:t>The professionals are ahead of the tooling.</a:t>
            </a:r>
          </a:p>
        </p:txBody>
      </p:sp>
      <p:sp>
        <p:nvSpPr>
          <p:cNvPr id="5" name="TextBox 4"/>
          <p:cNvSpPr txBox="1"/>
          <p:nvPr/>
        </p:nvSpPr>
        <p:spPr>
          <a:xfrm>
            <a:off x="1691640" y="2331720"/>
            <a:ext cx="9692640" cy="402336"/>
          </a:xfrm>
          <a:prstGeom prst="rect">
            <a:avLst/>
          </a:prstGeom>
          <a:noFill/>
        </p:spPr>
        <p:txBody>
          <a:bodyPr wrap="square">
            <a:spAutoFit/>
          </a:bodyPr>
          <a:lstStyle/>
          <a:p>
            <a:pPr algn="l"/>
            <a:r>
              <a:rPr sz="1600" b="0" i="0">
                <a:solidFill>
                  <a:srgbClr val="BBBBC8"/>
                </a:solidFill>
                <a:latin typeface="DM Sans"/>
              </a:rPr>
              <a:t>—  Today's data scientists work with billions of rows, not millions</a:t>
            </a:r>
          </a:p>
        </p:txBody>
      </p:sp>
      <p:sp>
        <p:nvSpPr>
          <p:cNvPr id="6" name="TextBox 5"/>
          <p:cNvSpPr txBox="1"/>
          <p:nvPr/>
        </p:nvSpPr>
        <p:spPr>
          <a:xfrm>
            <a:off x="1691640" y="2761488"/>
            <a:ext cx="9692640" cy="402336"/>
          </a:xfrm>
          <a:prstGeom prst="rect">
            <a:avLst/>
          </a:prstGeom>
          <a:noFill/>
        </p:spPr>
        <p:txBody>
          <a:bodyPr wrap="square">
            <a:spAutoFit/>
          </a:bodyPr>
          <a:lstStyle/>
          <a:p>
            <a:pPr algn="l"/>
            <a:r>
              <a:rPr sz="1600" b="0" i="0">
                <a:solidFill>
                  <a:srgbClr val="BBBBC8"/>
                </a:solidFill>
                <a:latin typeface="DM Sans"/>
              </a:rPr>
              <a:t>—  Production pipelines run on Apple Silicon — in studios, labs, and startups</a:t>
            </a:r>
          </a:p>
        </p:txBody>
      </p:sp>
      <p:sp>
        <p:nvSpPr>
          <p:cNvPr id="7" name="TextBox 6"/>
          <p:cNvSpPr txBox="1"/>
          <p:nvPr/>
        </p:nvSpPr>
        <p:spPr>
          <a:xfrm>
            <a:off x="1691640" y="3191256"/>
            <a:ext cx="9692640" cy="402336"/>
          </a:xfrm>
          <a:prstGeom prst="rect">
            <a:avLst/>
          </a:prstGeom>
          <a:noFill/>
        </p:spPr>
        <p:txBody>
          <a:bodyPr wrap="square">
            <a:spAutoFit/>
          </a:bodyPr>
          <a:lstStyle/>
          <a:p>
            <a:pPr algn="l"/>
            <a:r>
              <a:rPr sz="1600" b="0" i="0">
                <a:solidFill>
                  <a:srgbClr val="BBBBC8"/>
                </a:solidFill>
                <a:latin typeface="DM Sans"/>
              </a:rPr>
              <a:t>—  They understand lazy evaluation, predicate pushdown, GPU compute</a:t>
            </a:r>
          </a:p>
        </p:txBody>
      </p:sp>
      <p:sp>
        <p:nvSpPr>
          <p:cNvPr id="8" name="TextBox 7"/>
          <p:cNvSpPr txBox="1"/>
          <p:nvPr/>
        </p:nvSpPr>
        <p:spPr>
          <a:xfrm>
            <a:off x="1691640" y="3621024"/>
            <a:ext cx="9692640" cy="402336"/>
          </a:xfrm>
          <a:prstGeom prst="rect">
            <a:avLst/>
          </a:prstGeom>
          <a:noFill/>
        </p:spPr>
        <p:txBody>
          <a:bodyPr wrap="square">
            <a:spAutoFit/>
          </a:bodyPr>
          <a:lstStyle/>
          <a:p>
            <a:pPr algn="l"/>
            <a:r>
              <a:rPr sz="1600" b="0" i="0">
                <a:solidFill>
                  <a:srgbClr val="BBBBC8"/>
                </a:solidFill>
                <a:latin typeface="DM Sans"/>
              </a:rPr>
              <a:t>—  The tooling has not kept up with the talent</a:t>
            </a:r>
          </a:p>
        </p:txBody>
      </p:sp>
      <p:sp>
        <p:nvSpPr>
          <p:cNvPr id="9" name="Rectangle 8"/>
          <p:cNvSpPr/>
          <p:nvPr/>
        </p:nvSpPr>
        <p:spPr>
          <a:xfrm>
            <a:off x="548640" y="4572000"/>
            <a:ext cx="11091672" cy="10972"/>
          </a:xfrm>
          <a:prstGeom prst="rect">
            <a:avLst/>
          </a:prstGeom>
          <a:solidFill>
            <a:srgbClr val="FF9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4718304"/>
            <a:ext cx="10881360" cy="868680"/>
          </a:xfrm>
          <a:prstGeom prst="rect">
            <a:avLst/>
          </a:prstGeom>
          <a:noFill/>
        </p:spPr>
        <p:txBody>
          <a:bodyPr wrap="square">
            <a:spAutoFit/>
          </a:bodyPr>
          <a:lstStyle/>
          <a:p>
            <a:pPr algn="l"/>
            <a:r>
              <a:rPr sz="2100" b="0" i="1">
                <a:solidFill>
                  <a:srgbClr val="FF949A"/>
                </a:solidFill>
                <a:latin typeface="Manrope"/>
              </a:rPr>
              <a:t>We gave the world's best data craftspeople a hammer from 2008
and told them to build skyscrapers with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457200"/>
            <a:ext cx="1005840" cy="438912"/>
          </a:xfrm>
          <a:prstGeom prst="rect">
            <a:avLst/>
          </a:prstGeom>
          <a:noFill/>
        </p:spPr>
        <p:txBody>
          <a:bodyPr wrap="square">
            <a:spAutoFit/>
          </a:bodyPr>
          <a:lstStyle/>
          <a:p>
            <a:pPr algn="l"/>
            <a:r>
              <a:rPr sz="2000" b="0" i="0">
                <a:solidFill>
                  <a:srgbClr val="00D0A3"/>
                </a:solidFill>
                <a:latin typeface="Space Mono"/>
              </a:rPr>
              <a:t>05</a:t>
            </a:r>
          </a:p>
        </p:txBody>
      </p:sp>
      <p:sp>
        <p:nvSpPr>
          <p:cNvPr id="3" name="TextBox 2"/>
          <p:cNvSpPr txBox="1"/>
          <p:nvPr/>
        </p:nvSpPr>
        <p:spPr>
          <a:xfrm>
            <a:off x="1691640" y="329184"/>
            <a:ext cx="10058400" cy="1234440"/>
          </a:xfrm>
          <a:prstGeom prst="rect">
            <a:avLst/>
          </a:prstGeom>
          <a:noFill/>
        </p:spPr>
        <p:txBody>
          <a:bodyPr wrap="square">
            <a:spAutoFit/>
          </a:bodyPr>
          <a:lstStyle/>
          <a:p>
            <a:pPr algn="l"/>
            <a:r>
              <a:rPr sz="3600" b="0" i="0">
                <a:solidFill>
                  <a:srgbClr val="FFFFFF"/>
                </a:solidFill>
                <a:latin typeface="Manrope"/>
              </a:rPr>
              <a:t>Apple silicon: the hardware advantage nobody talks about.</a:t>
            </a:r>
          </a:p>
        </p:txBody>
      </p:sp>
      <p:sp>
        <p:nvSpPr>
          <p:cNvPr id="4" name="TextBox 3"/>
          <p:cNvSpPr txBox="1"/>
          <p:nvPr/>
        </p:nvSpPr>
        <p:spPr>
          <a:xfrm>
            <a:off x="1691640" y="1536192"/>
            <a:ext cx="9692640" cy="566928"/>
          </a:xfrm>
          <a:prstGeom prst="rect">
            <a:avLst/>
          </a:prstGeom>
          <a:noFill/>
        </p:spPr>
        <p:txBody>
          <a:bodyPr wrap="square">
            <a:spAutoFit/>
          </a:bodyPr>
          <a:lstStyle/>
          <a:p>
            <a:pPr algn="l"/>
            <a:r>
              <a:rPr sz="1900" b="0" i="0">
                <a:solidFill>
                  <a:srgbClr val="FF949A"/>
                </a:solidFill>
                <a:latin typeface="Manrope"/>
              </a:rPr>
              <a:t>Unified memory · Metal GPU · Apple Accelerate — all in one chip.</a:t>
            </a:r>
          </a:p>
        </p:txBody>
      </p:sp>
      <p:sp>
        <p:nvSpPr>
          <p:cNvPr id="5" name="Rectangle 4"/>
          <p:cNvSpPr/>
          <p:nvPr/>
        </p:nvSpPr>
        <p:spPr>
          <a:xfrm>
            <a:off x="457200" y="2286000"/>
            <a:ext cx="3657600" cy="3383280"/>
          </a:xfrm>
          <a:prstGeom prst="rect">
            <a:avLst/>
          </a:prstGeom>
          <a:solidFill>
            <a:srgbClr val="080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286000"/>
            <a:ext cx="3657600" cy="45720"/>
          </a:xfrm>
          <a:prstGeom prst="rect">
            <a:avLst/>
          </a:prstGeom>
          <a:solidFill>
            <a:srgbClr val="FF9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2395728"/>
            <a:ext cx="3383280" cy="777240"/>
          </a:xfrm>
          <a:prstGeom prst="rect">
            <a:avLst/>
          </a:prstGeom>
          <a:noFill/>
        </p:spPr>
        <p:txBody>
          <a:bodyPr wrap="square">
            <a:spAutoFit/>
          </a:bodyPr>
          <a:lstStyle/>
          <a:p>
            <a:pPr algn="l"/>
            <a:r>
              <a:rPr sz="2000" b="1" i="0">
                <a:solidFill>
                  <a:srgbClr val="FF949A"/>
                </a:solidFill>
                <a:latin typeface="Manrope"/>
              </a:rPr>
              <a:t>Unified memory
architecture.</a:t>
            </a:r>
          </a:p>
        </p:txBody>
      </p:sp>
      <p:sp>
        <p:nvSpPr>
          <p:cNvPr id="8" name="TextBox 7"/>
          <p:cNvSpPr txBox="1"/>
          <p:nvPr/>
        </p:nvSpPr>
        <p:spPr>
          <a:xfrm>
            <a:off x="621792" y="3200400"/>
            <a:ext cx="3337560" cy="1645920"/>
          </a:xfrm>
          <a:prstGeom prst="rect">
            <a:avLst/>
          </a:prstGeom>
          <a:noFill/>
        </p:spPr>
        <p:txBody>
          <a:bodyPr wrap="square">
            <a:spAutoFit/>
          </a:bodyPr>
          <a:lstStyle/>
          <a:p>
            <a:pPr algn="l"/>
            <a:r>
              <a:rPr sz="1400" b="0" i="0">
                <a:solidFill>
                  <a:srgbClr val="BBBBC8"/>
                </a:solidFill>
                <a:latin typeface="DM Sans"/>
              </a:rPr>
              <a:t>CPU and GPU share the same physical RAM. No PCIe copy. No memcpy.
Near zero-cost GPU data handoff.</a:t>
            </a:r>
          </a:p>
        </p:txBody>
      </p:sp>
      <p:sp>
        <p:nvSpPr>
          <p:cNvPr id="9" name="Rectangle 8"/>
          <p:cNvSpPr/>
          <p:nvPr/>
        </p:nvSpPr>
        <p:spPr>
          <a:xfrm>
            <a:off x="4370832" y="2286000"/>
            <a:ext cx="3657600" cy="3383280"/>
          </a:xfrm>
          <a:prstGeom prst="rect">
            <a:avLst/>
          </a:prstGeom>
          <a:solidFill>
            <a:srgbClr val="080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70832" y="2286000"/>
            <a:ext cx="3657600" cy="45720"/>
          </a:xfrm>
          <a:prstGeom prst="rect">
            <a:avLst/>
          </a:prstGeom>
          <a:solidFill>
            <a:srgbClr val="00D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35424" y="2395728"/>
            <a:ext cx="3383280" cy="777240"/>
          </a:xfrm>
          <a:prstGeom prst="rect">
            <a:avLst/>
          </a:prstGeom>
          <a:noFill/>
        </p:spPr>
        <p:txBody>
          <a:bodyPr wrap="square">
            <a:spAutoFit/>
          </a:bodyPr>
          <a:lstStyle/>
          <a:p>
            <a:pPr algn="l"/>
            <a:r>
              <a:rPr sz="2000" b="1" i="0">
                <a:solidFill>
                  <a:srgbClr val="00D0A3"/>
                </a:solidFill>
                <a:latin typeface="Manrope"/>
              </a:rPr>
              <a:t>Metal compute
shaders.</a:t>
            </a:r>
          </a:p>
        </p:txBody>
      </p:sp>
      <p:sp>
        <p:nvSpPr>
          <p:cNvPr id="12" name="TextBox 11"/>
          <p:cNvSpPr txBox="1"/>
          <p:nvPr/>
        </p:nvSpPr>
        <p:spPr>
          <a:xfrm>
            <a:off x="4535424" y="3200400"/>
            <a:ext cx="3337560" cy="1645920"/>
          </a:xfrm>
          <a:prstGeom prst="rect">
            <a:avLst/>
          </a:prstGeom>
          <a:noFill/>
        </p:spPr>
        <p:txBody>
          <a:bodyPr wrap="square">
            <a:spAutoFit/>
          </a:bodyPr>
          <a:lstStyle/>
          <a:p>
            <a:pPr algn="l"/>
            <a:r>
              <a:rPr sz="1400" b="0" i="0">
                <a:solidFill>
                  <a:srgbClr val="BBBBC8"/>
                </a:solidFill>
                <a:latin typeface="DM Sans"/>
              </a:rPr>
              <a:t>Bare-metal GPU programming. Seven kernels for GroupBy and Merge.
Atomic parallel reductions.</a:t>
            </a:r>
          </a:p>
        </p:txBody>
      </p:sp>
      <p:sp>
        <p:nvSpPr>
          <p:cNvPr id="13" name="Rectangle 12"/>
          <p:cNvSpPr/>
          <p:nvPr/>
        </p:nvSpPr>
        <p:spPr>
          <a:xfrm>
            <a:off x="8284464" y="2286000"/>
            <a:ext cx="3657600" cy="3383280"/>
          </a:xfrm>
          <a:prstGeom prst="rect">
            <a:avLst/>
          </a:prstGeom>
          <a:solidFill>
            <a:srgbClr val="080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84464" y="2286000"/>
            <a:ext cx="3657600" cy="45720"/>
          </a:xfrm>
          <a:prstGeom prst="rect">
            <a:avLst/>
          </a:prstGeom>
          <a:solidFill>
            <a:srgbClr val="34C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49056" y="2395728"/>
            <a:ext cx="3383280" cy="777240"/>
          </a:xfrm>
          <a:prstGeom prst="rect">
            <a:avLst/>
          </a:prstGeom>
          <a:noFill/>
        </p:spPr>
        <p:txBody>
          <a:bodyPr wrap="square">
            <a:spAutoFit/>
          </a:bodyPr>
          <a:lstStyle/>
          <a:p>
            <a:pPr algn="l"/>
            <a:r>
              <a:rPr sz="2000" b="1" i="0">
                <a:solidFill>
                  <a:srgbClr val="34C759"/>
                </a:solidFill>
                <a:latin typeface="Manrope"/>
              </a:rPr>
              <a:t>Apple Accelerate
/ vDSP.</a:t>
            </a:r>
          </a:p>
        </p:txBody>
      </p:sp>
      <p:sp>
        <p:nvSpPr>
          <p:cNvPr id="16" name="TextBox 15"/>
          <p:cNvSpPr txBox="1"/>
          <p:nvPr/>
        </p:nvSpPr>
        <p:spPr>
          <a:xfrm>
            <a:off x="8449056" y="3200400"/>
            <a:ext cx="3337560" cy="1645920"/>
          </a:xfrm>
          <a:prstGeom prst="rect">
            <a:avLst/>
          </a:prstGeom>
          <a:noFill/>
        </p:spPr>
        <p:txBody>
          <a:bodyPr wrap="square">
            <a:spAutoFit/>
          </a:bodyPr>
          <a:lstStyle/>
          <a:p>
            <a:pPr algn="l"/>
            <a:r>
              <a:rPr sz="1400" b="0" i="0">
                <a:solidFill>
                  <a:srgbClr val="BBBBC8"/>
                </a:solidFill>
                <a:latin typeface="DM Sans"/>
              </a:rPr>
              <a:t>SIMD vectorisation baked into the OS. Every numeric operation hits hardware SIMD.
No extra libraries.</a:t>
            </a:r>
          </a:p>
        </p:txBody>
      </p:sp>
      <p:sp>
        <p:nvSpPr>
          <p:cNvPr id="17" name="TextBox 16"/>
          <p:cNvSpPr txBox="1"/>
          <p:nvPr/>
        </p:nvSpPr>
        <p:spPr>
          <a:xfrm>
            <a:off x="548640" y="5852160"/>
            <a:ext cx="11091672" cy="457200"/>
          </a:xfrm>
          <a:prstGeom prst="rect">
            <a:avLst/>
          </a:prstGeom>
          <a:noFill/>
        </p:spPr>
        <p:txBody>
          <a:bodyPr wrap="square">
            <a:spAutoFit/>
          </a:bodyPr>
          <a:lstStyle/>
          <a:p>
            <a:pPr algn="ctr"/>
            <a:r>
              <a:rPr sz="1800" b="1" i="0">
                <a:solidFill>
                  <a:srgbClr val="FFFFFF"/>
                </a:solidFill>
                <a:latin typeface="Manrope"/>
              </a:rPr>
              <a:t>Apple Silicon is in 100 M+ active devices. The compute is already deployed.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457200"/>
            <a:ext cx="1005840" cy="438912"/>
          </a:xfrm>
          <a:prstGeom prst="rect">
            <a:avLst/>
          </a:prstGeom>
          <a:noFill/>
        </p:spPr>
        <p:txBody>
          <a:bodyPr wrap="square">
            <a:spAutoFit/>
          </a:bodyPr>
          <a:lstStyle/>
          <a:p>
            <a:pPr algn="l"/>
            <a:r>
              <a:rPr sz="2000" b="0" i="0">
                <a:solidFill>
                  <a:srgbClr val="00D0A3"/>
                </a:solidFill>
                <a:latin typeface="Space Mono"/>
              </a:rPr>
              <a:t>06</a:t>
            </a:r>
          </a:p>
        </p:txBody>
      </p:sp>
      <p:sp>
        <p:nvSpPr>
          <p:cNvPr id="3" name="TextBox 2"/>
          <p:cNvSpPr txBox="1"/>
          <p:nvPr/>
        </p:nvSpPr>
        <p:spPr>
          <a:xfrm>
            <a:off x="1691640" y="329184"/>
            <a:ext cx="10058400" cy="1234440"/>
          </a:xfrm>
          <a:prstGeom prst="rect">
            <a:avLst/>
          </a:prstGeom>
          <a:noFill/>
        </p:spPr>
        <p:txBody>
          <a:bodyPr wrap="square">
            <a:spAutoFit/>
          </a:bodyPr>
          <a:lstStyle/>
          <a:p>
            <a:pPr algn="l"/>
            <a:r>
              <a:rPr sz="3800" b="0" i="0">
                <a:solidFill>
                  <a:srgbClr val="FFFFFF"/>
                </a:solidFill>
                <a:latin typeface="Manrope"/>
              </a:rPr>
              <a:t>Seven GPU kernels. Zero extra hardware required.</a:t>
            </a:r>
          </a:p>
        </p:txBody>
      </p:sp>
      <p:sp>
        <p:nvSpPr>
          <p:cNvPr id="4" name="TextBox 3"/>
          <p:cNvSpPr txBox="1"/>
          <p:nvPr/>
        </p:nvSpPr>
        <p:spPr>
          <a:xfrm>
            <a:off x="1691640" y="1536192"/>
            <a:ext cx="9692640" cy="566928"/>
          </a:xfrm>
          <a:prstGeom prst="rect">
            <a:avLst/>
          </a:prstGeom>
          <a:noFill/>
        </p:spPr>
        <p:txBody>
          <a:bodyPr wrap="square">
            <a:spAutoFit/>
          </a:bodyPr>
          <a:lstStyle/>
          <a:p>
            <a:pPr algn="l"/>
            <a:r>
              <a:rPr sz="1900" b="0" i="0">
                <a:solidFill>
                  <a:srgbClr val="FF949A"/>
                </a:solidFill>
                <a:latin typeface="Manrope"/>
              </a:rPr>
              <a:t>Metal compute — transparent, automatic, threshold-based.</a:t>
            </a:r>
          </a:p>
        </p:txBody>
      </p:sp>
      <p:sp>
        <p:nvSpPr>
          <p:cNvPr id="5" name="TextBox 4"/>
          <p:cNvSpPr txBox="1"/>
          <p:nvPr/>
        </p:nvSpPr>
        <p:spPr>
          <a:xfrm>
            <a:off x="1691640" y="2331720"/>
            <a:ext cx="9692640" cy="402336"/>
          </a:xfrm>
          <a:prstGeom prst="rect">
            <a:avLst/>
          </a:prstGeom>
          <a:noFill/>
        </p:spPr>
        <p:txBody>
          <a:bodyPr wrap="square">
            <a:spAutoFit/>
          </a:bodyPr>
          <a:lstStyle/>
          <a:p>
            <a:pPr algn="l"/>
            <a:r>
              <a:rPr sz="1600" b="1" i="0">
                <a:solidFill>
                  <a:srgbClr val="FF949A"/>
                </a:solidFill>
                <a:latin typeface="DM Sans"/>
              </a:rPr>
              <a:t>  GroupBy on the GPU — hash-insert + parallel atomic reductions across thousands of threads</a:t>
            </a:r>
          </a:p>
        </p:txBody>
      </p:sp>
      <p:sp>
        <p:nvSpPr>
          <p:cNvPr id="6" name="TextBox 5"/>
          <p:cNvSpPr txBox="1"/>
          <p:nvPr/>
        </p:nvSpPr>
        <p:spPr>
          <a:xfrm>
            <a:off x="1691640" y="2761488"/>
            <a:ext cx="9692640" cy="402336"/>
          </a:xfrm>
          <a:prstGeom prst="rect">
            <a:avLst/>
          </a:prstGeom>
          <a:noFill/>
        </p:spPr>
        <p:txBody>
          <a:bodyPr wrap="square">
            <a:spAutoFit/>
          </a:bodyPr>
          <a:lstStyle/>
          <a:p>
            <a:pPr algn="l"/>
            <a:r>
              <a:rPr sz="1600" b="1" i="0">
                <a:solidFill>
                  <a:srgbClr val="FF949A"/>
                </a:solidFill>
                <a:latin typeface="DM Sans"/>
              </a:rPr>
              <a:t>  Merge / Join on the GPU — hash-build + hash-probe with chained duplicates</a:t>
            </a:r>
          </a:p>
        </p:txBody>
      </p:sp>
      <p:sp>
        <p:nvSpPr>
          <p:cNvPr id="7" name="TextBox 6"/>
          <p:cNvSpPr txBox="1"/>
          <p:nvPr/>
        </p:nvSpPr>
        <p:spPr>
          <a:xfrm>
            <a:off x="1691640" y="3191256"/>
            <a:ext cx="9692640" cy="402336"/>
          </a:xfrm>
          <a:prstGeom prst="rect">
            <a:avLst/>
          </a:prstGeom>
          <a:noFill/>
        </p:spPr>
        <p:txBody>
          <a:bodyPr wrap="square">
            <a:spAutoFit/>
          </a:bodyPr>
          <a:lstStyle/>
          <a:p>
            <a:pPr algn="l"/>
            <a:r>
              <a:rPr sz="1600" b="1" i="0">
                <a:solidFill>
                  <a:srgbClr val="FF949A"/>
                </a:solidFill>
                <a:latin typeface="DM Sans"/>
              </a:rPr>
              <a:t>  Threshold dispatch — CPU for small data, GPU for ≥ 500 K rows, automatically</a:t>
            </a:r>
          </a:p>
        </p:txBody>
      </p:sp>
      <p:sp>
        <p:nvSpPr>
          <p:cNvPr id="8" name="TextBox 7"/>
          <p:cNvSpPr txBox="1"/>
          <p:nvPr/>
        </p:nvSpPr>
        <p:spPr>
          <a:xfrm>
            <a:off x="1691640" y="3621024"/>
            <a:ext cx="9692640" cy="402336"/>
          </a:xfrm>
          <a:prstGeom prst="rect">
            <a:avLst/>
          </a:prstGeom>
          <a:noFill/>
        </p:spPr>
        <p:txBody>
          <a:bodyPr wrap="square">
            <a:spAutoFit/>
          </a:bodyPr>
          <a:lstStyle/>
          <a:p>
            <a:pPr algn="l"/>
            <a:r>
              <a:rPr sz="1600" b="0" i="0">
                <a:solidFill>
                  <a:srgbClr val="BBBBC8"/>
                </a:solidFill>
                <a:latin typeface="DM Sans"/>
              </a:rPr>
              <a:t>—  Pipeline cache — all seven states initialised once, reused on every call</a:t>
            </a:r>
          </a:p>
        </p:txBody>
      </p:sp>
      <p:sp>
        <p:nvSpPr>
          <p:cNvPr id="9" name="TextBox 8"/>
          <p:cNvSpPr txBox="1"/>
          <p:nvPr/>
        </p:nvSpPr>
        <p:spPr>
          <a:xfrm>
            <a:off x="1691640" y="4050792"/>
            <a:ext cx="9692640" cy="402336"/>
          </a:xfrm>
          <a:prstGeom prst="rect">
            <a:avLst/>
          </a:prstGeom>
          <a:noFill/>
        </p:spPr>
        <p:txBody>
          <a:bodyPr wrap="square">
            <a:spAutoFit/>
          </a:bodyPr>
          <a:lstStyle/>
          <a:p>
            <a:pPr algn="l"/>
            <a:r>
              <a:rPr sz="1600" b="0" i="0">
                <a:solidFill>
                  <a:srgbClr val="BBBBC8"/>
                </a:solidFill>
                <a:latin typeface="DM Sans"/>
              </a:rPr>
              <a:t>—  Unified memory — near zero-cost CPU → GPU buffer handoff on Apple Silicon</a:t>
            </a:r>
          </a:p>
        </p:txBody>
      </p:sp>
      <p:sp>
        <p:nvSpPr>
          <p:cNvPr id="10" name="Rectangle 9"/>
          <p:cNvSpPr/>
          <p:nvPr/>
        </p:nvSpPr>
        <p:spPr>
          <a:xfrm>
            <a:off x="548640" y="5074920"/>
            <a:ext cx="2560320" cy="868680"/>
          </a:xfrm>
          <a:prstGeom prst="rect">
            <a:avLst/>
          </a:prstGeom>
          <a:solidFill>
            <a:srgbClr val="0808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5074920"/>
            <a:ext cx="2560320" cy="45720"/>
          </a:xfrm>
          <a:prstGeom prst="rect">
            <a:avLst/>
          </a:prstGeom>
          <a:solidFill>
            <a:srgbClr val="FF9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166360"/>
            <a:ext cx="2377440" cy="713232"/>
          </a:xfrm>
          <a:prstGeom prst="rect">
            <a:avLst/>
          </a:prstGeom>
          <a:noFill/>
        </p:spPr>
        <p:txBody>
          <a:bodyPr wrap="square">
            <a:spAutoFit/>
          </a:bodyPr>
          <a:lstStyle/>
          <a:p>
            <a:pPr algn="l"/>
            <a:r>
              <a:rPr sz="1300" b="0" i="0">
                <a:solidFill>
                  <a:srgbClr val="FF949A"/>
                </a:solidFill>
                <a:latin typeface="DM Sans"/>
              </a:rPr>
              <a:t>CPU
Factorize keys</a:t>
            </a:r>
          </a:p>
        </p:txBody>
      </p:sp>
      <p:sp>
        <p:nvSpPr>
          <p:cNvPr id="13" name="TextBox 12"/>
          <p:cNvSpPr txBox="1"/>
          <p:nvPr/>
        </p:nvSpPr>
        <p:spPr>
          <a:xfrm>
            <a:off x="3090672" y="5257800"/>
            <a:ext cx="256032" cy="502920"/>
          </a:xfrm>
          <a:prstGeom prst="rect">
            <a:avLst/>
          </a:prstGeom>
          <a:noFill/>
        </p:spPr>
        <p:txBody>
          <a:bodyPr wrap="square">
            <a:spAutoFit/>
          </a:bodyPr>
          <a:lstStyle/>
          <a:p>
            <a:pPr algn="ctr"/>
            <a:r>
              <a:rPr sz="1800" b="0" i="0">
                <a:solidFill>
                  <a:srgbClr val="666677"/>
                </a:solidFill>
                <a:latin typeface="Manrope"/>
              </a:rPr>
              <a:t>→</a:t>
            </a:r>
          </a:p>
        </p:txBody>
      </p:sp>
      <p:sp>
        <p:nvSpPr>
          <p:cNvPr id="14" name="Rectangle 13"/>
          <p:cNvSpPr/>
          <p:nvPr/>
        </p:nvSpPr>
        <p:spPr>
          <a:xfrm>
            <a:off x="3456432" y="5074920"/>
            <a:ext cx="2560320" cy="868680"/>
          </a:xfrm>
          <a:prstGeom prst="rect">
            <a:avLst/>
          </a:prstGeom>
          <a:solidFill>
            <a:srgbClr val="0808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56432" y="5074920"/>
            <a:ext cx="2560320" cy="45720"/>
          </a:xfrm>
          <a:prstGeom prst="rect">
            <a:avLst/>
          </a:prstGeom>
          <a:solidFill>
            <a:srgbClr val="00D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66160" y="5166360"/>
            <a:ext cx="2377440" cy="713232"/>
          </a:xfrm>
          <a:prstGeom prst="rect">
            <a:avLst/>
          </a:prstGeom>
          <a:noFill/>
        </p:spPr>
        <p:txBody>
          <a:bodyPr wrap="square">
            <a:spAutoFit/>
          </a:bodyPr>
          <a:lstStyle/>
          <a:p>
            <a:pPr algn="l"/>
            <a:r>
              <a:rPr sz="1300" b="0" i="0">
                <a:solidFill>
                  <a:srgbClr val="00D0A3"/>
                </a:solidFill>
                <a:latin typeface="DM Sans"/>
              </a:rPr>
              <a:t>GPU
Hash insert</a:t>
            </a:r>
          </a:p>
        </p:txBody>
      </p:sp>
      <p:sp>
        <p:nvSpPr>
          <p:cNvPr id="17" name="TextBox 16"/>
          <p:cNvSpPr txBox="1"/>
          <p:nvPr/>
        </p:nvSpPr>
        <p:spPr>
          <a:xfrm>
            <a:off x="5998464" y="5257800"/>
            <a:ext cx="256032" cy="502920"/>
          </a:xfrm>
          <a:prstGeom prst="rect">
            <a:avLst/>
          </a:prstGeom>
          <a:noFill/>
        </p:spPr>
        <p:txBody>
          <a:bodyPr wrap="square">
            <a:spAutoFit/>
          </a:bodyPr>
          <a:lstStyle/>
          <a:p>
            <a:pPr algn="ctr"/>
            <a:r>
              <a:rPr sz="1800" b="0" i="0">
                <a:solidFill>
                  <a:srgbClr val="666677"/>
                </a:solidFill>
                <a:latin typeface="Manrope"/>
              </a:rPr>
              <a:t>→</a:t>
            </a:r>
          </a:p>
        </p:txBody>
      </p:sp>
      <p:sp>
        <p:nvSpPr>
          <p:cNvPr id="18" name="Rectangle 17"/>
          <p:cNvSpPr/>
          <p:nvPr/>
        </p:nvSpPr>
        <p:spPr>
          <a:xfrm>
            <a:off x="6364224" y="5074920"/>
            <a:ext cx="2560320" cy="868680"/>
          </a:xfrm>
          <a:prstGeom prst="rect">
            <a:avLst/>
          </a:prstGeom>
          <a:solidFill>
            <a:srgbClr val="0808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64224" y="5074920"/>
            <a:ext cx="2560320" cy="45720"/>
          </a:xfrm>
          <a:prstGeom prst="rect">
            <a:avLst/>
          </a:prstGeom>
          <a:solidFill>
            <a:srgbClr val="00D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3952" y="5166360"/>
            <a:ext cx="2377440" cy="713232"/>
          </a:xfrm>
          <a:prstGeom prst="rect">
            <a:avLst/>
          </a:prstGeom>
          <a:noFill/>
        </p:spPr>
        <p:txBody>
          <a:bodyPr wrap="square">
            <a:spAutoFit/>
          </a:bodyPr>
          <a:lstStyle/>
          <a:p>
            <a:pPr algn="l"/>
            <a:r>
              <a:rPr sz="1300" b="0" i="0">
                <a:solidFill>
                  <a:srgbClr val="00D0A3"/>
                </a:solidFill>
                <a:latin typeface="DM Sans"/>
              </a:rPr>
              <a:t>GPU
Parallel reduce</a:t>
            </a:r>
          </a:p>
        </p:txBody>
      </p:sp>
      <p:sp>
        <p:nvSpPr>
          <p:cNvPr id="21" name="TextBox 20"/>
          <p:cNvSpPr txBox="1"/>
          <p:nvPr/>
        </p:nvSpPr>
        <p:spPr>
          <a:xfrm>
            <a:off x="8906256" y="5257800"/>
            <a:ext cx="256032" cy="502920"/>
          </a:xfrm>
          <a:prstGeom prst="rect">
            <a:avLst/>
          </a:prstGeom>
          <a:noFill/>
        </p:spPr>
        <p:txBody>
          <a:bodyPr wrap="square">
            <a:spAutoFit/>
          </a:bodyPr>
          <a:lstStyle/>
          <a:p>
            <a:pPr algn="ctr"/>
            <a:r>
              <a:rPr sz="1800" b="0" i="0">
                <a:solidFill>
                  <a:srgbClr val="666677"/>
                </a:solidFill>
                <a:latin typeface="Manrope"/>
              </a:rPr>
              <a:t>→</a:t>
            </a:r>
          </a:p>
        </p:txBody>
      </p:sp>
      <p:sp>
        <p:nvSpPr>
          <p:cNvPr id="22" name="Rectangle 21"/>
          <p:cNvSpPr/>
          <p:nvPr/>
        </p:nvSpPr>
        <p:spPr>
          <a:xfrm>
            <a:off x="9272016" y="5074920"/>
            <a:ext cx="2560320" cy="868680"/>
          </a:xfrm>
          <a:prstGeom prst="rect">
            <a:avLst/>
          </a:prstGeom>
          <a:solidFill>
            <a:srgbClr val="0808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72016" y="5074920"/>
            <a:ext cx="2560320" cy="45720"/>
          </a:xfrm>
          <a:prstGeom prst="rect">
            <a:avLst/>
          </a:prstGeom>
          <a:solidFill>
            <a:srgbClr val="FF9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81744" y="5166360"/>
            <a:ext cx="2377440" cy="713232"/>
          </a:xfrm>
          <a:prstGeom prst="rect">
            <a:avLst/>
          </a:prstGeom>
          <a:noFill/>
        </p:spPr>
        <p:txBody>
          <a:bodyPr wrap="square">
            <a:spAutoFit/>
          </a:bodyPr>
          <a:lstStyle/>
          <a:p>
            <a:pPr algn="l"/>
            <a:r>
              <a:rPr sz="1300" b="0" i="0">
                <a:solidFill>
                  <a:srgbClr val="FF949A"/>
                </a:solidFill>
                <a:latin typeface="DM Sans"/>
              </a:rPr>
              <a:t>CPU
Result DataFrame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457200"/>
            <a:ext cx="1005840" cy="438912"/>
          </a:xfrm>
          <a:prstGeom prst="rect">
            <a:avLst/>
          </a:prstGeom>
          <a:noFill/>
        </p:spPr>
        <p:txBody>
          <a:bodyPr wrap="square">
            <a:spAutoFit/>
          </a:bodyPr>
          <a:lstStyle/>
          <a:p>
            <a:pPr algn="l"/>
            <a:r>
              <a:rPr sz="2000" b="0" i="0">
                <a:solidFill>
                  <a:srgbClr val="00D0A3"/>
                </a:solidFill>
                <a:latin typeface="Space Mono"/>
              </a:rPr>
              <a:t>07</a:t>
            </a:r>
          </a:p>
        </p:txBody>
      </p:sp>
      <p:sp>
        <p:nvSpPr>
          <p:cNvPr id="3" name="TextBox 2"/>
          <p:cNvSpPr txBox="1"/>
          <p:nvPr/>
        </p:nvSpPr>
        <p:spPr>
          <a:xfrm>
            <a:off x="1691640" y="329184"/>
            <a:ext cx="10058400" cy="1234440"/>
          </a:xfrm>
          <a:prstGeom prst="rect">
            <a:avLst/>
          </a:prstGeom>
          <a:noFill/>
        </p:spPr>
        <p:txBody>
          <a:bodyPr wrap="square">
            <a:spAutoFit/>
          </a:bodyPr>
          <a:lstStyle/>
          <a:p>
            <a:pPr algn="l"/>
            <a:r>
              <a:rPr sz="3600" b="0" i="0">
                <a:solidFill>
                  <a:srgbClr val="FFFFFF"/>
                </a:solidFill>
                <a:latin typeface="Manrope"/>
              </a:rPr>
              <a:t>Kiraa's open source contribution: SwiftPandas.</a:t>
            </a:r>
          </a:p>
        </p:txBody>
      </p:sp>
      <p:sp>
        <p:nvSpPr>
          <p:cNvPr id="4" name="TextBox 3"/>
          <p:cNvSpPr txBox="1"/>
          <p:nvPr/>
        </p:nvSpPr>
        <p:spPr>
          <a:xfrm>
            <a:off x="1691640" y="1536192"/>
            <a:ext cx="9692640" cy="566928"/>
          </a:xfrm>
          <a:prstGeom prst="rect">
            <a:avLst/>
          </a:prstGeom>
          <a:noFill/>
        </p:spPr>
        <p:txBody>
          <a:bodyPr wrap="square">
            <a:spAutoFit/>
          </a:bodyPr>
          <a:lstStyle/>
          <a:p>
            <a:pPr algn="l"/>
            <a:r>
              <a:rPr sz="1900" b="0" i="0">
                <a:solidFill>
                  <a:srgbClr val="FF949A"/>
                </a:solidFill>
                <a:latin typeface="Manrope"/>
              </a:rPr>
              <a:t>A native Swift port of Python pandas — for macOS and iOS.</a:t>
            </a:r>
          </a:p>
        </p:txBody>
      </p:sp>
      <p:sp>
        <p:nvSpPr>
          <p:cNvPr id="5" name="TextBox 4"/>
          <p:cNvSpPr txBox="1"/>
          <p:nvPr/>
        </p:nvSpPr>
        <p:spPr>
          <a:xfrm>
            <a:off x="1691640" y="2331720"/>
            <a:ext cx="9692640" cy="402336"/>
          </a:xfrm>
          <a:prstGeom prst="rect">
            <a:avLst/>
          </a:prstGeom>
          <a:noFill/>
        </p:spPr>
        <p:txBody>
          <a:bodyPr wrap="square">
            <a:spAutoFit/>
          </a:bodyPr>
          <a:lstStyle/>
          <a:p>
            <a:pPr algn="l"/>
            <a:r>
              <a:rPr sz="1600" b="0" i="0">
                <a:solidFill>
                  <a:srgbClr val="BBBBC8"/>
                </a:solidFill>
                <a:latin typeface="DM Sans"/>
              </a:rPr>
              <a:t>—  Full DataFrame, Series, and Index API — familiar to any pandas user</a:t>
            </a:r>
          </a:p>
        </p:txBody>
      </p:sp>
      <p:sp>
        <p:nvSpPr>
          <p:cNvPr id="6" name="TextBox 5"/>
          <p:cNvSpPr txBox="1"/>
          <p:nvPr/>
        </p:nvSpPr>
        <p:spPr>
          <a:xfrm>
            <a:off x="1691640" y="2734056"/>
            <a:ext cx="9692640" cy="402336"/>
          </a:xfrm>
          <a:prstGeom prst="rect">
            <a:avLst/>
          </a:prstGeom>
          <a:noFill/>
        </p:spPr>
        <p:txBody>
          <a:bodyPr wrap="square">
            <a:spAutoFit/>
          </a:bodyPr>
          <a:lstStyle/>
          <a:p>
            <a:pPr algn="l"/>
            <a:r>
              <a:rPr sz="1600" b="1" i="0">
                <a:solidFill>
                  <a:srgbClr val="FF949A"/>
                </a:solidFill>
                <a:latin typeface="DM Sans"/>
              </a:rPr>
              <a:t>  Metal GPU acceleration for GroupBy and Merge</a:t>
            </a:r>
          </a:p>
        </p:txBody>
      </p:sp>
      <p:sp>
        <p:nvSpPr>
          <p:cNvPr id="7" name="TextBox 6"/>
          <p:cNvSpPr txBox="1"/>
          <p:nvPr/>
        </p:nvSpPr>
        <p:spPr>
          <a:xfrm>
            <a:off x="1691640" y="3136392"/>
            <a:ext cx="9692640" cy="402336"/>
          </a:xfrm>
          <a:prstGeom prst="rect">
            <a:avLst/>
          </a:prstGeom>
          <a:noFill/>
        </p:spPr>
        <p:txBody>
          <a:bodyPr wrap="square">
            <a:spAutoFit/>
          </a:bodyPr>
          <a:lstStyle/>
          <a:p>
            <a:pPr algn="l"/>
            <a:r>
              <a:rPr sz="1600" b="1" i="0">
                <a:solidFill>
                  <a:srgbClr val="FF949A"/>
                </a:solidFill>
                <a:latin typeface="DM Sans"/>
              </a:rPr>
              <a:t>  Apple Accelerate / vDSP for all numeric operations</a:t>
            </a:r>
          </a:p>
        </p:txBody>
      </p:sp>
      <p:sp>
        <p:nvSpPr>
          <p:cNvPr id="8" name="TextBox 7"/>
          <p:cNvSpPr txBox="1"/>
          <p:nvPr/>
        </p:nvSpPr>
        <p:spPr>
          <a:xfrm>
            <a:off x="1691640" y="3538728"/>
            <a:ext cx="9692640" cy="402336"/>
          </a:xfrm>
          <a:prstGeom prst="rect">
            <a:avLst/>
          </a:prstGeom>
          <a:noFill/>
        </p:spPr>
        <p:txBody>
          <a:bodyPr wrap="square">
            <a:spAutoFit/>
          </a:bodyPr>
          <a:lstStyle/>
          <a:p>
            <a:pPr algn="l"/>
            <a:r>
              <a:rPr sz="1600" b="1" i="0">
                <a:solidFill>
                  <a:srgbClr val="FF949A"/>
                </a:solidFill>
                <a:latin typeface="DM Sans"/>
              </a:rPr>
              <a:t>  Lazy evaluation engine with four-pass query optimiser</a:t>
            </a:r>
          </a:p>
        </p:txBody>
      </p:sp>
      <p:sp>
        <p:nvSpPr>
          <p:cNvPr id="9" name="TextBox 8"/>
          <p:cNvSpPr txBox="1"/>
          <p:nvPr/>
        </p:nvSpPr>
        <p:spPr>
          <a:xfrm>
            <a:off x="1691640" y="3941064"/>
            <a:ext cx="9692640" cy="402336"/>
          </a:xfrm>
          <a:prstGeom prst="rect">
            <a:avLst/>
          </a:prstGeom>
          <a:noFill/>
        </p:spPr>
        <p:txBody>
          <a:bodyPr wrap="square">
            <a:spAutoFit/>
          </a:bodyPr>
          <a:lstStyle/>
          <a:p>
            <a:pPr algn="l"/>
            <a:r>
              <a:rPr sz="1600" b="0" i="0">
                <a:solidFill>
                  <a:srgbClr val="BBBBC8"/>
                </a:solidFill>
                <a:latin typeface="DM Sans"/>
              </a:rPr>
              <a:t>—  Resident-memory daemon — load once, query in 15 ms</a:t>
            </a:r>
          </a:p>
        </p:txBody>
      </p:sp>
      <p:sp>
        <p:nvSpPr>
          <p:cNvPr id="10" name="TextBox 9"/>
          <p:cNvSpPr txBox="1"/>
          <p:nvPr/>
        </p:nvSpPr>
        <p:spPr>
          <a:xfrm>
            <a:off x="1691640" y="4343400"/>
            <a:ext cx="9692640" cy="402336"/>
          </a:xfrm>
          <a:prstGeom prst="rect">
            <a:avLst/>
          </a:prstGeom>
          <a:noFill/>
        </p:spPr>
        <p:txBody>
          <a:bodyPr wrap="square">
            <a:spAutoFit/>
          </a:bodyPr>
          <a:lstStyle/>
          <a:p>
            <a:pPr algn="l"/>
            <a:r>
              <a:rPr sz="1600" b="0" i="0">
                <a:solidFill>
                  <a:srgbClr val="BBBBC8"/>
                </a:solidFill>
                <a:latin typeface="DM Sans"/>
              </a:rPr>
              <a:t>—  415 tests, all passing  ·  Apache 2.0  ·  open source</a:t>
            </a:r>
          </a:p>
        </p:txBody>
      </p:sp>
      <p:sp>
        <p:nvSpPr>
          <p:cNvPr id="11" name="Rectangle 10"/>
          <p:cNvSpPr/>
          <p:nvPr/>
        </p:nvSpPr>
        <p:spPr>
          <a:xfrm>
            <a:off x="7772400" y="2212848"/>
            <a:ext cx="4206240" cy="4160520"/>
          </a:xfrm>
          <a:prstGeom prst="rect">
            <a:avLst/>
          </a:prstGeom>
          <a:solidFill>
            <a:srgbClr val="0606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0" y="2212848"/>
            <a:ext cx="45720" cy="4160520"/>
          </a:xfrm>
          <a:prstGeom prst="rect">
            <a:avLst/>
          </a:prstGeom>
          <a:solidFill>
            <a:srgbClr val="00D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36992" y="2304288"/>
            <a:ext cx="3886200" cy="3977639"/>
          </a:xfrm>
          <a:prstGeom prst="rect">
            <a:avLst/>
          </a:prstGeom>
          <a:noFill/>
        </p:spPr>
        <p:txBody>
          <a:bodyPr wrap="square">
            <a:spAutoFit/>
          </a:bodyPr>
          <a:lstStyle/>
          <a:p>
            <a:pPr algn="l"/>
            <a:r>
              <a:rPr sz="1200" b="0" i="0">
                <a:solidFill>
                  <a:srgbClr val="9AFFC4"/>
                </a:solidFill>
                <a:latin typeface="Space Mono"/>
              </a:rPr>
              <a:t>import SwiftPandas
let result = df.lazy()
    .filter(col("revenue") &gt; 10_000)
    .groupBy("region")
    .mean()
    .collect()
// 15 ms with the daemon.
// Not 820.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457200"/>
            <a:ext cx="1005840" cy="438912"/>
          </a:xfrm>
          <a:prstGeom prst="rect">
            <a:avLst/>
          </a:prstGeom>
          <a:noFill/>
        </p:spPr>
        <p:txBody>
          <a:bodyPr wrap="square">
            <a:spAutoFit/>
          </a:bodyPr>
          <a:lstStyle/>
          <a:p>
            <a:pPr algn="l"/>
            <a:r>
              <a:rPr sz="2000" b="0" i="0">
                <a:solidFill>
                  <a:srgbClr val="00D0A3"/>
                </a:solidFill>
                <a:latin typeface="Space Mono"/>
              </a:rPr>
              <a:t>08</a:t>
            </a:r>
          </a:p>
        </p:txBody>
      </p:sp>
      <p:sp>
        <p:nvSpPr>
          <p:cNvPr id="3" name="TextBox 2"/>
          <p:cNvSpPr txBox="1"/>
          <p:nvPr/>
        </p:nvSpPr>
        <p:spPr>
          <a:xfrm>
            <a:off x="1691640" y="329184"/>
            <a:ext cx="10058400" cy="1234440"/>
          </a:xfrm>
          <a:prstGeom prst="rect">
            <a:avLst/>
          </a:prstGeom>
          <a:noFill/>
        </p:spPr>
        <p:txBody>
          <a:bodyPr wrap="square">
            <a:spAutoFit/>
          </a:bodyPr>
          <a:lstStyle/>
          <a:p>
            <a:pPr algn="l"/>
            <a:r>
              <a:rPr sz="3800" b="0" i="0">
                <a:solidFill>
                  <a:srgbClr val="FFFFFF"/>
                </a:solidFill>
                <a:latin typeface="Manrope"/>
              </a:rPr>
              <a:t>23 benchmarks won. 25.7% faster on average.</a:t>
            </a:r>
          </a:p>
        </p:txBody>
      </p:sp>
      <p:sp>
        <p:nvSpPr>
          <p:cNvPr id="4" name="TextBox 3"/>
          <p:cNvSpPr txBox="1"/>
          <p:nvPr/>
        </p:nvSpPr>
        <p:spPr>
          <a:xfrm>
            <a:off x="1691640" y="1536192"/>
            <a:ext cx="9692640" cy="566928"/>
          </a:xfrm>
          <a:prstGeom prst="rect">
            <a:avLst/>
          </a:prstGeom>
          <a:noFill/>
        </p:spPr>
        <p:txBody>
          <a:bodyPr wrap="square">
            <a:spAutoFit/>
          </a:bodyPr>
          <a:lstStyle/>
          <a:p>
            <a:pPr algn="l"/>
            <a:r>
              <a:rPr sz="1900" b="0" i="0">
                <a:solidFill>
                  <a:srgbClr val="FF949A"/>
                </a:solidFill>
                <a:latin typeface="Manrope"/>
              </a:rPr>
              <a:t>Apple M2 Max · macOS 15 · Swift 6.0 Release vs pandas 2.2.</a:t>
            </a:r>
          </a:p>
        </p:txBody>
      </p:sp>
      <p:sp>
        <p:nvSpPr>
          <p:cNvPr id="5" name="Rectangle 4"/>
          <p:cNvSpPr/>
          <p:nvPr/>
        </p:nvSpPr>
        <p:spPr>
          <a:xfrm>
            <a:off x="548640" y="2212848"/>
            <a:ext cx="4334256" cy="365760"/>
          </a:xfrm>
          <a:prstGeom prst="rect">
            <a:avLst/>
          </a:prstGeom>
          <a:solidFill>
            <a:srgbClr val="10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212848"/>
            <a:ext cx="36576" cy="365760"/>
          </a:xfrm>
          <a:prstGeom prst="rect">
            <a:avLst/>
          </a:prstGeom>
          <a:solidFill>
            <a:srgbClr val="6666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2286000"/>
            <a:ext cx="4389120" cy="310896"/>
          </a:xfrm>
          <a:prstGeom prst="rect">
            <a:avLst/>
          </a:prstGeom>
          <a:noFill/>
        </p:spPr>
        <p:txBody>
          <a:bodyPr wrap="square">
            <a:spAutoFit/>
          </a:bodyPr>
          <a:lstStyle/>
          <a:p>
            <a:pPr algn="l"/>
            <a:r>
              <a:rPr sz="1200" b="1" i="0">
                <a:solidFill>
                  <a:srgbClr val="666677"/>
                </a:solidFill>
                <a:latin typeface="Space Mono"/>
              </a:rPr>
              <a:t>Operation</a:t>
            </a:r>
          </a:p>
        </p:txBody>
      </p:sp>
      <p:sp>
        <p:nvSpPr>
          <p:cNvPr id="8" name="Rectangle 7"/>
          <p:cNvSpPr/>
          <p:nvPr/>
        </p:nvSpPr>
        <p:spPr>
          <a:xfrm>
            <a:off x="5120640" y="2212848"/>
            <a:ext cx="2231136" cy="365760"/>
          </a:xfrm>
          <a:prstGeom prst="rect">
            <a:avLst/>
          </a:prstGeom>
          <a:solidFill>
            <a:srgbClr val="10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120640" y="2212848"/>
            <a:ext cx="36576" cy="365760"/>
          </a:xfrm>
          <a:prstGeom prst="rect">
            <a:avLst/>
          </a:prstGeom>
          <a:solidFill>
            <a:srgbClr val="00D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93792" y="2286000"/>
            <a:ext cx="2286000" cy="310896"/>
          </a:xfrm>
          <a:prstGeom prst="rect">
            <a:avLst/>
          </a:prstGeom>
          <a:noFill/>
        </p:spPr>
        <p:txBody>
          <a:bodyPr wrap="square">
            <a:spAutoFit/>
          </a:bodyPr>
          <a:lstStyle/>
          <a:p>
            <a:pPr algn="l"/>
            <a:r>
              <a:rPr sz="1200" b="1" i="0">
                <a:solidFill>
                  <a:srgbClr val="00D0A3"/>
                </a:solidFill>
                <a:latin typeface="Space Mono"/>
              </a:rPr>
              <a:t>SwiftPandas</a:t>
            </a:r>
          </a:p>
        </p:txBody>
      </p:sp>
      <p:sp>
        <p:nvSpPr>
          <p:cNvPr id="11" name="Rectangle 10"/>
          <p:cNvSpPr/>
          <p:nvPr/>
        </p:nvSpPr>
        <p:spPr>
          <a:xfrm>
            <a:off x="7635240" y="2212848"/>
            <a:ext cx="2002536" cy="365760"/>
          </a:xfrm>
          <a:prstGeom prst="rect">
            <a:avLst/>
          </a:prstGeom>
          <a:solidFill>
            <a:srgbClr val="10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35240" y="2212848"/>
            <a:ext cx="36576" cy="365760"/>
          </a:xfrm>
          <a:prstGeom prst="rect">
            <a:avLst/>
          </a:prstGeom>
          <a:solidFill>
            <a:srgbClr val="6666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286000"/>
            <a:ext cx="2057400" cy="310896"/>
          </a:xfrm>
          <a:prstGeom prst="rect">
            <a:avLst/>
          </a:prstGeom>
          <a:noFill/>
        </p:spPr>
        <p:txBody>
          <a:bodyPr wrap="square">
            <a:spAutoFit/>
          </a:bodyPr>
          <a:lstStyle/>
          <a:p>
            <a:pPr algn="l"/>
            <a:r>
              <a:rPr sz="1200" b="1" i="0">
                <a:solidFill>
                  <a:srgbClr val="666677"/>
                </a:solidFill>
                <a:latin typeface="Space Mono"/>
              </a:rPr>
              <a:t>Python pandas</a:t>
            </a:r>
          </a:p>
        </p:txBody>
      </p:sp>
      <p:sp>
        <p:nvSpPr>
          <p:cNvPr id="14" name="Rectangle 13"/>
          <p:cNvSpPr/>
          <p:nvPr/>
        </p:nvSpPr>
        <p:spPr>
          <a:xfrm>
            <a:off x="9875520" y="2212848"/>
            <a:ext cx="2093976" cy="365760"/>
          </a:xfrm>
          <a:prstGeom prst="rect">
            <a:avLst/>
          </a:prstGeom>
          <a:solidFill>
            <a:srgbClr val="10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875520" y="2212848"/>
            <a:ext cx="36576" cy="365760"/>
          </a:xfrm>
          <a:prstGeom prst="rect">
            <a:avLst/>
          </a:prstGeom>
          <a:solidFill>
            <a:srgbClr val="00D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48672" y="2286000"/>
            <a:ext cx="2148840" cy="310896"/>
          </a:xfrm>
          <a:prstGeom prst="rect">
            <a:avLst/>
          </a:prstGeom>
          <a:noFill/>
        </p:spPr>
        <p:txBody>
          <a:bodyPr wrap="square">
            <a:spAutoFit/>
          </a:bodyPr>
          <a:lstStyle/>
          <a:p>
            <a:pPr algn="l"/>
            <a:r>
              <a:rPr sz="1200" b="1" i="0">
                <a:solidFill>
                  <a:srgbClr val="00D0A3"/>
                </a:solidFill>
                <a:latin typeface="Space Mono"/>
              </a:rPr>
              <a:t>Advantage</a:t>
            </a:r>
          </a:p>
        </p:txBody>
      </p:sp>
      <p:sp>
        <p:nvSpPr>
          <p:cNvPr id="17" name="Rectangle 16"/>
          <p:cNvSpPr/>
          <p:nvPr/>
        </p:nvSpPr>
        <p:spPr>
          <a:xfrm>
            <a:off x="548640" y="2633472"/>
            <a:ext cx="4334256" cy="438912"/>
          </a:xfrm>
          <a:prstGeom prst="rect">
            <a:avLst/>
          </a:prstGeom>
          <a:solidFill>
            <a:srgbClr val="080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2688336"/>
            <a:ext cx="4251960" cy="365760"/>
          </a:xfrm>
          <a:prstGeom prst="rect">
            <a:avLst/>
          </a:prstGeom>
          <a:noFill/>
        </p:spPr>
        <p:txBody>
          <a:bodyPr wrap="square">
            <a:spAutoFit/>
          </a:bodyPr>
          <a:lstStyle/>
          <a:p>
            <a:pPr algn="l"/>
            <a:r>
              <a:rPr sz="1400" b="0" i="0">
                <a:solidFill>
                  <a:srgbClr val="BBBBC8"/>
                </a:solidFill>
                <a:latin typeface="DM Sans"/>
              </a:rPr>
              <a:t>DataFrame construct (1M rows)</a:t>
            </a:r>
          </a:p>
        </p:txBody>
      </p:sp>
      <p:sp>
        <p:nvSpPr>
          <p:cNvPr id="19" name="Rectangle 18"/>
          <p:cNvSpPr/>
          <p:nvPr/>
        </p:nvSpPr>
        <p:spPr>
          <a:xfrm>
            <a:off x="5120640" y="2633472"/>
            <a:ext cx="2231136" cy="438912"/>
          </a:xfrm>
          <a:prstGeom prst="rect">
            <a:avLst/>
          </a:prstGeom>
          <a:solidFill>
            <a:srgbClr val="080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02936" y="2688336"/>
            <a:ext cx="2148840" cy="365760"/>
          </a:xfrm>
          <a:prstGeom prst="rect">
            <a:avLst/>
          </a:prstGeom>
          <a:noFill/>
        </p:spPr>
        <p:txBody>
          <a:bodyPr wrap="square">
            <a:spAutoFit/>
          </a:bodyPr>
          <a:lstStyle/>
          <a:p>
            <a:pPr algn="l"/>
            <a:r>
              <a:rPr sz="1400" b="0" i="0">
                <a:solidFill>
                  <a:srgbClr val="9AFFC4"/>
                </a:solidFill>
                <a:latin typeface="DM Sans"/>
              </a:rPr>
              <a:t>7 ms</a:t>
            </a:r>
          </a:p>
        </p:txBody>
      </p:sp>
      <p:sp>
        <p:nvSpPr>
          <p:cNvPr id="21" name="Rectangle 20"/>
          <p:cNvSpPr/>
          <p:nvPr/>
        </p:nvSpPr>
        <p:spPr>
          <a:xfrm>
            <a:off x="7635240" y="2633472"/>
            <a:ext cx="2002536" cy="438912"/>
          </a:xfrm>
          <a:prstGeom prst="rect">
            <a:avLst/>
          </a:prstGeom>
          <a:solidFill>
            <a:srgbClr val="080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17536" y="2688336"/>
            <a:ext cx="1920240" cy="365760"/>
          </a:xfrm>
          <a:prstGeom prst="rect">
            <a:avLst/>
          </a:prstGeom>
          <a:noFill/>
        </p:spPr>
        <p:txBody>
          <a:bodyPr wrap="square">
            <a:spAutoFit/>
          </a:bodyPr>
          <a:lstStyle/>
          <a:p>
            <a:pPr algn="l"/>
            <a:r>
              <a:rPr sz="1400" b="0" i="0">
                <a:solidFill>
                  <a:srgbClr val="BBBBC8"/>
                </a:solidFill>
                <a:latin typeface="DM Sans"/>
              </a:rPr>
              <a:t>10,819 ms</a:t>
            </a:r>
          </a:p>
        </p:txBody>
      </p:sp>
      <p:sp>
        <p:nvSpPr>
          <p:cNvPr id="23" name="Rectangle 22"/>
          <p:cNvSpPr/>
          <p:nvPr/>
        </p:nvSpPr>
        <p:spPr>
          <a:xfrm>
            <a:off x="9875520" y="2633472"/>
            <a:ext cx="2093976" cy="438912"/>
          </a:xfrm>
          <a:prstGeom prst="rect">
            <a:avLst/>
          </a:prstGeom>
          <a:solidFill>
            <a:srgbClr val="080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57816" y="2688336"/>
            <a:ext cx="2011680" cy="365760"/>
          </a:xfrm>
          <a:prstGeom prst="rect">
            <a:avLst/>
          </a:prstGeom>
          <a:noFill/>
        </p:spPr>
        <p:txBody>
          <a:bodyPr wrap="square">
            <a:spAutoFit/>
          </a:bodyPr>
          <a:lstStyle/>
          <a:p>
            <a:pPr algn="l"/>
            <a:r>
              <a:rPr sz="1400" b="1" i="0">
                <a:solidFill>
                  <a:srgbClr val="FF949A"/>
                </a:solidFill>
                <a:latin typeface="DM Sans"/>
              </a:rPr>
              <a:t>1,583× faster</a:t>
            </a:r>
          </a:p>
        </p:txBody>
      </p:sp>
      <p:sp>
        <p:nvSpPr>
          <p:cNvPr id="25" name="Rectangle 24"/>
          <p:cNvSpPr/>
          <p:nvPr/>
        </p:nvSpPr>
        <p:spPr>
          <a:xfrm>
            <a:off x="548640" y="3108960"/>
            <a:ext cx="4334256" cy="438912"/>
          </a:xfrm>
          <a:prstGeom prst="rect">
            <a:avLst/>
          </a:prstGeom>
          <a:solidFill>
            <a:srgbClr val="0B0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 y="3163824"/>
            <a:ext cx="4251960" cy="365760"/>
          </a:xfrm>
          <a:prstGeom prst="rect">
            <a:avLst/>
          </a:prstGeom>
          <a:noFill/>
        </p:spPr>
        <p:txBody>
          <a:bodyPr wrap="square">
            <a:spAutoFit/>
          </a:bodyPr>
          <a:lstStyle/>
          <a:p>
            <a:pPr algn="l"/>
            <a:r>
              <a:rPr sz="1400" b="0" i="0">
                <a:solidFill>
                  <a:srgbClr val="BBBBC8"/>
                </a:solidFill>
                <a:latin typeface="DM Sans"/>
              </a:rPr>
              <a:t>mean()  (1M rows)</a:t>
            </a:r>
          </a:p>
        </p:txBody>
      </p:sp>
      <p:sp>
        <p:nvSpPr>
          <p:cNvPr id="27" name="Rectangle 26"/>
          <p:cNvSpPr/>
          <p:nvPr/>
        </p:nvSpPr>
        <p:spPr>
          <a:xfrm>
            <a:off x="5120640" y="3108960"/>
            <a:ext cx="2231136" cy="438912"/>
          </a:xfrm>
          <a:prstGeom prst="rect">
            <a:avLst/>
          </a:prstGeom>
          <a:solidFill>
            <a:srgbClr val="0B0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02936" y="3163824"/>
            <a:ext cx="2148840" cy="365760"/>
          </a:xfrm>
          <a:prstGeom prst="rect">
            <a:avLst/>
          </a:prstGeom>
          <a:noFill/>
        </p:spPr>
        <p:txBody>
          <a:bodyPr wrap="square">
            <a:spAutoFit/>
          </a:bodyPr>
          <a:lstStyle/>
          <a:p>
            <a:pPr algn="l"/>
            <a:r>
              <a:rPr sz="1400" b="0" i="0">
                <a:solidFill>
                  <a:srgbClr val="9AFFC4"/>
                </a:solidFill>
                <a:latin typeface="DM Sans"/>
              </a:rPr>
              <a:t>98 µs</a:t>
            </a:r>
          </a:p>
        </p:txBody>
      </p:sp>
      <p:sp>
        <p:nvSpPr>
          <p:cNvPr id="29" name="Rectangle 28"/>
          <p:cNvSpPr/>
          <p:nvPr/>
        </p:nvSpPr>
        <p:spPr>
          <a:xfrm>
            <a:off x="7635240" y="3108960"/>
            <a:ext cx="2002536" cy="438912"/>
          </a:xfrm>
          <a:prstGeom prst="rect">
            <a:avLst/>
          </a:prstGeom>
          <a:solidFill>
            <a:srgbClr val="0B0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17536" y="3163824"/>
            <a:ext cx="1920240" cy="365760"/>
          </a:xfrm>
          <a:prstGeom prst="rect">
            <a:avLst/>
          </a:prstGeom>
          <a:noFill/>
        </p:spPr>
        <p:txBody>
          <a:bodyPr wrap="square">
            <a:spAutoFit/>
          </a:bodyPr>
          <a:lstStyle/>
          <a:p>
            <a:pPr algn="l"/>
            <a:r>
              <a:rPr sz="1400" b="0" i="0">
                <a:solidFill>
                  <a:srgbClr val="BBBBC8"/>
                </a:solidFill>
                <a:latin typeface="DM Sans"/>
              </a:rPr>
              <a:t>392 µs</a:t>
            </a:r>
          </a:p>
        </p:txBody>
      </p:sp>
      <p:sp>
        <p:nvSpPr>
          <p:cNvPr id="31" name="Rectangle 30"/>
          <p:cNvSpPr/>
          <p:nvPr/>
        </p:nvSpPr>
        <p:spPr>
          <a:xfrm>
            <a:off x="9875520" y="3108960"/>
            <a:ext cx="2093976" cy="438912"/>
          </a:xfrm>
          <a:prstGeom prst="rect">
            <a:avLst/>
          </a:prstGeom>
          <a:solidFill>
            <a:srgbClr val="0B0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957816" y="3163824"/>
            <a:ext cx="2011680" cy="365760"/>
          </a:xfrm>
          <a:prstGeom prst="rect">
            <a:avLst/>
          </a:prstGeom>
          <a:noFill/>
        </p:spPr>
        <p:txBody>
          <a:bodyPr wrap="square">
            <a:spAutoFit/>
          </a:bodyPr>
          <a:lstStyle/>
          <a:p>
            <a:pPr algn="l"/>
            <a:r>
              <a:rPr sz="1400" b="1" i="0">
                <a:solidFill>
                  <a:srgbClr val="FF949A"/>
                </a:solidFill>
                <a:latin typeface="DM Sans"/>
              </a:rPr>
              <a:t>75% faster</a:t>
            </a:r>
          </a:p>
        </p:txBody>
      </p:sp>
      <p:sp>
        <p:nvSpPr>
          <p:cNvPr id="33" name="Rectangle 32"/>
          <p:cNvSpPr/>
          <p:nvPr/>
        </p:nvSpPr>
        <p:spPr>
          <a:xfrm>
            <a:off x="548640" y="3584448"/>
            <a:ext cx="4334256" cy="438912"/>
          </a:xfrm>
          <a:prstGeom prst="rect">
            <a:avLst/>
          </a:prstGeom>
          <a:solidFill>
            <a:srgbClr val="080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 y="3639312"/>
            <a:ext cx="4251960" cy="365760"/>
          </a:xfrm>
          <a:prstGeom prst="rect">
            <a:avLst/>
          </a:prstGeom>
          <a:noFill/>
        </p:spPr>
        <p:txBody>
          <a:bodyPr wrap="square">
            <a:spAutoFit/>
          </a:bodyPr>
          <a:lstStyle/>
          <a:p>
            <a:pPr algn="l"/>
            <a:r>
              <a:rPr sz="1400" b="0" i="0">
                <a:solidFill>
                  <a:srgbClr val="BBBBC8"/>
                </a:solidFill>
                <a:latin typeface="DM Sans"/>
              </a:rPr>
              <a:t>GroupBy sum  (100 groups)</a:t>
            </a:r>
          </a:p>
        </p:txBody>
      </p:sp>
      <p:sp>
        <p:nvSpPr>
          <p:cNvPr id="35" name="Rectangle 34"/>
          <p:cNvSpPr/>
          <p:nvPr/>
        </p:nvSpPr>
        <p:spPr>
          <a:xfrm>
            <a:off x="5120640" y="3584448"/>
            <a:ext cx="2231136" cy="438912"/>
          </a:xfrm>
          <a:prstGeom prst="rect">
            <a:avLst/>
          </a:prstGeom>
          <a:solidFill>
            <a:srgbClr val="080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02936" y="3639312"/>
            <a:ext cx="2148840" cy="365760"/>
          </a:xfrm>
          <a:prstGeom prst="rect">
            <a:avLst/>
          </a:prstGeom>
          <a:noFill/>
        </p:spPr>
        <p:txBody>
          <a:bodyPr wrap="square">
            <a:spAutoFit/>
          </a:bodyPr>
          <a:lstStyle/>
          <a:p>
            <a:pPr algn="l"/>
            <a:r>
              <a:rPr sz="1400" b="0" i="0">
                <a:solidFill>
                  <a:srgbClr val="9AFFC4"/>
                </a:solidFill>
                <a:latin typeface="DM Sans"/>
              </a:rPr>
              <a:t>891 µs</a:t>
            </a:r>
          </a:p>
        </p:txBody>
      </p:sp>
      <p:sp>
        <p:nvSpPr>
          <p:cNvPr id="37" name="Rectangle 36"/>
          <p:cNvSpPr/>
          <p:nvPr/>
        </p:nvSpPr>
        <p:spPr>
          <a:xfrm>
            <a:off x="7635240" y="3584448"/>
            <a:ext cx="2002536" cy="438912"/>
          </a:xfrm>
          <a:prstGeom prst="rect">
            <a:avLst/>
          </a:prstGeom>
          <a:solidFill>
            <a:srgbClr val="080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17536" y="3639312"/>
            <a:ext cx="1920240" cy="365760"/>
          </a:xfrm>
          <a:prstGeom prst="rect">
            <a:avLst/>
          </a:prstGeom>
          <a:noFill/>
        </p:spPr>
        <p:txBody>
          <a:bodyPr wrap="square">
            <a:spAutoFit/>
          </a:bodyPr>
          <a:lstStyle/>
          <a:p>
            <a:pPr algn="l"/>
            <a:r>
              <a:rPr sz="1400" b="0" i="0">
                <a:solidFill>
                  <a:srgbClr val="BBBBC8"/>
                </a:solidFill>
                <a:latin typeface="DM Sans"/>
              </a:rPr>
              <a:t>2,407 µs</a:t>
            </a:r>
          </a:p>
        </p:txBody>
      </p:sp>
      <p:sp>
        <p:nvSpPr>
          <p:cNvPr id="39" name="Rectangle 38"/>
          <p:cNvSpPr/>
          <p:nvPr/>
        </p:nvSpPr>
        <p:spPr>
          <a:xfrm>
            <a:off x="9875520" y="3584448"/>
            <a:ext cx="2093976" cy="438912"/>
          </a:xfrm>
          <a:prstGeom prst="rect">
            <a:avLst/>
          </a:prstGeom>
          <a:solidFill>
            <a:srgbClr val="080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957816" y="3639312"/>
            <a:ext cx="2011680" cy="365760"/>
          </a:xfrm>
          <a:prstGeom prst="rect">
            <a:avLst/>
          </a:prstGeom>
          <a:noFill/>
        </p:spPr>
        <p:txBody>
          <a:bodyPr wrap="square">
            <a:spAutoFit/>
          </a:bodyPr>
          <a:lstStyle/>
          <a:p>
            <a:pPr algn="l"/>
            <a:r>
              <a:rPr sz="1400" b="1" i="0">
                <a:solidFill>
                  <a:srgbClr val="FF949A"/>
                </a:solidFill>
                <a:latin typeface="DM Sans"/>
              </a:rPr>
              <a:t>63% faster</a:t>
            </a:r>
          </a:p>
        </p:txBody>
      </p:sp>
      <p:sp>
        <p:nvSpPr>
          <p:cNvPr id="41" name="Rectangle 40"/>
          <p:cNvSpPr/>
          <p:nvPr/>
        </p:nvSpPr>
        <p:spPr>
          <a:xfrm>
            <a:off x="548640" y="4059935"/>
            <a:ext cx="4334256" cy="438912"/>
          </a:xfrm>
          <a:prstGeom prst="rect">
            <a:avLst/>
          </a:prstGeom>
          <a:solidFill>
            <a:srgbClr val="0B0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0936" y="4114799"/>
            <a:ext cx="4251960" cy="365760"/>
          </a:xfrm>
          <a:prstGeom prst="rect">
            <a:avLst/>
          </a:prstGeom>
          <a:noFill/>
        </p:spPr>
        <p:txBody>
          <a:bodyPr wrap="square">
            <a:spAutoFit/>
          </a:bodyPr>
          <a:lstStyle/>
          <a:p>
            <a:pPr algn="l"/>
            <a:r>
              <a:rPr sz="1400" b="0" i="0">
                <a:solidFill>
                  <a:srgbClr val="BBBBC8"/>
                </a:solidFill>
                <a:latin typeface="DM Sans"/>
              </a:rPr>
              <a:t>GroupBy sum  (10 K groups)</a:t>
            </a:r>
          </a:p>
        </p:txBody>
      </p:sp>
      <p:sp>
        <p:nvSpPr>
          <p:cNvPr id="43" name="Rectangle 42"/>
          <p:cNvSpPr/>
          <p:nvPr/>
        </p:nvSpPr>
        <p:spPr>
          <a:xfrm>
            <a:off x="5120640" y="4059935"/>
            <a:ext cx="2231136" cy="438912"/>
          </a:xfrm>
          <a:prstGeom prst="rect">
            <a:avLst/>
          </a:prstGeom>
          <a:solidFill>
            <a:srgbClr val="0B0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202936" y="4114799"/>
            <a:ext cx="2148840" cy="365760"/>
          </a:xfrm>
          <a:prstGeom prst="rect">
            <a:avLst/>
          </a:prstGeom>
          <a:noFill/>
        </p:spPr>
        <p:txBody>
          <a:bodyPr wrap="square">
            <a:spAutoFit/>
          </a:bodyPr>
          <a:lstStyle/>
          <a:p>
            <a:pPr algn="l"/>
            <a:r>
              <a:rPr sz="1400" b="0" i="0">
                <a:solidFill>
                  <a:srgbClr val="9AFFC4"/>
                </a:solidFill>
                <a:latin typeface="DM Sans"/>
              </a:rPr>
              <a:t>1,057 µs</a:t>
            </a:r>
          </a:p>
        </p:txBody>
      </p:sp>
      <p:sp>
        <p:nvSpPr>
          <p:cNvPr id="45" name="Rectangle 44"/>
          <p:cNvSpPr/>
          <p:nvPr/>
        </p:nvSpPr>
        <p:spPr>
          <a:xfrm>
            <a:off x="7635240" y="4059935"/>
            <a:ext cx="2002536" cy="438912"/>
          </a:xfrm>
          <a:prstGeom prst="rect">
            <a:avLst/>
          </a:prstGeom>
          <a:solidFill>
            <a:srgbClr val="0B0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17536" y="4114799"/>
            <a:ext cx="1920240" cy="365760"/>
          </a:xfrm>
          <a:prstGeom prst="rect">
            <a:avLst/>
          </a:prstGeom>
          <a:noFill/>
        </p:spPr>
        <p:txBody>
          <a:bodyPr wrap="square">
            <a:spAutoFit/>
          </a:bodyPr>
          <a:lstStyle/>
          <a:p>
            <a:pPr algn="l"/>
            <a:r>
              <a:rPr sz="1400" b="0" i="0">
                <a:solidFill>
                  <a:srgbClr val="BBBBC8"/>
                </a:solidFill>
                <a:latin typeface="DM Sans"/>
              </a:rPr>
              <a:t>6,780 µs</a:t>
            </a:r>
          </a:p>
        </p:txBody>
      </p:sp>
      <p:sp>
        <p:nvSpPr>
          <p:cNvPr id="47" name="Rectangle 46"/>
          <p:cNvSpPr/>
          <p:nvPr/>
        </p:nvSpPr>
        <p:spPr>
          <a:xfrm>
            <a:off x="9875520" y="4059935"/>
            <a:ext cx="2093976" cy="438912"/>
          </a:xfrm>
          <a:prstGeom prst="rect">
            <a:avLst/>
          </a:prstGeom>
          <a:solidFill>
            <a:srgbClr val="0B0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957816" y="4114799"/>
            <a:ext cx="2011680" cy="365760"/>
          </a:xfrm>
          <a:prstGeom prst="rect">
            <a:avLst/>
          </a:prstGeom>
          <a:noFill/>
        </p:spPr>
        <p:txBody>
          <a:bodyPr wrap="square">
            <a:spAutoFit/>
          </a:bodyPr>
          <a:lstStyle/>
          <a:p>
            <a:pPr algn="l"/>
            <a:r>
              <a:rPr sz="1400" b="1" i="0">
                <a:solidFill>
                  <a:srgbClr val="FF949A"/>
                </a:solidFill>
                <a:latin typeface="DM Sans"/>
              </a:rPr>
              <a:t>84% faster</a:t>
            </a:r>
          </a:p>
        </p:txBody>
      </p:sp>
      <p:sp>
        <p:nvSpPr>
          <p:cNvPr id="49" name="Rectangle 48"/>
          <p:cNvSpPr/>
          <p:nvPr/>
        </p:nvSpPr>
        <p:spPr>
          <a:xfrm>
            <a:off x="548640" y="4535424"/>
            <a:ext cx="4334256" cy="438912"/>
          </a:xfrm>
          <a:prstGeom prst="rect">
            <a:avLst/>
          </a:prstGeom>
          <a:solidFill>
            <a:srgbClr val="080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0936" y="4590288"/>
            <a:ext cx="4251960" cy="365760"/>
          </a:xfrm>
          <a:prstGeom prst="rect">
            <a:avLst/>
          </a:prstGeom>
          <a:noFill/>
        </p:spPr>
        <p:txBody>
          <a:bodyPr wrap="square">
            <a:spAutoFit/>
          </a:bodyPr>
          <a:lstStyle/>
          <a:p>
            <a:pPr algn="l"/>
            <a:r>
              <a:rPr sz="1400" b="0" i="0">
                <a:solidFill>
                  <a:srgbClr val="BBBBC8"/>
                </a:solidFill>
                <a:latin typeface="DM Sans"/>
              </a:rPr>
              <a:t>cumsum()  (1M rows)</a:t>
            </a:r>
          </a:p>
        </p:txBody>
      </p:sp>
      <p:sp>
        <p:nvSpPr>
          <p:cNvPr id="51" name="Rectangle 50"/>
          <p:cNvSpPr/>
          <p:nvPr/>
        </p:nvSpPr>
        <p:spPr>
          <a:xfrm>
            <a:off x="5120640" y="4535424"/>
            <a:ext cx="2231136" cy="438912"/>
          </a:xfrm>
          <a:prstGeom prst="rect">
            <a:avLst/>
          </a:prstGeom>
          <a:solidFill>
            <a:srgbClr val="080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202936" y="4590288"/>
            <a:ext cx="2148840" cy="365760"/>
          </a:xfrm>
          <a:prstGeom prst="rect">
            <a:avLst/>
          </a:prstGeom>
          <a:noFill/>
        </p:spPr>
        <p:txBody>
          <a:bodyPr wrap="square">
            <a:spAutoFit/>
          </a:bodyPr>
          <a:lstStyle/>
          <a:p>
            <a:pPr algn="l"/>
            <a:r>
              <a:rPr sz="1400" b="0" i="0">
                <a:solidFill>
                  <a:srgbClr val="9AFFC4"/>
                </a:solidFill>
                <a:latin typeface="DM Sans"/>
              </a:rPr>
              <a:t>651 µs</a:t>
            </a:r>
          </a:p>
        </p:txBody>
      </p:sp>
      <p:sp>
        <p:nvSpPr>
          <p:cNvPr id="53" name="Rectangle 52"/>
          <p:cNvSpPr/>
          <p:nvPr/>
        </p:nvSpPr>
        <p:spPr>
          <a:xfrm>
            <a:off x="7635240" y="4535424"/>
            <a:ext cx="2002536" cy="438912"/>
          </a:xfrm>
          <a:prstGeom prst="rect">
            <a:avLst/>
          </a:prstGeom>
          <a:solidFill>
            <a:srgbClr val="080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17536" y="4590288"/>
            <a:ext cx="1920240" cy="365760"/>
          </a:xfrm>
          <a:prstGeom prst="rect">
            <a:avLst/>
          </a:prstGeom>
          <a:noFill/>
        </p:spPr>
        <p:txBody>
          <a:bodyPr wrap="square">
            <a:spAutoFit/>
          </a:bodyPr>
          <a:lstStyle/>
          <a:p>
            <a:pPr algn="l"/>
            <a:r>
              <a:rPr sz="1400" b="0" i="0">
                <a:solidFill>
                  <a:srgbClr val="BBBBC8"/>
                </a:solidFill>
                <a:latin typeface="DM Sans"/>
              </a:rPr>
              <a:t>2,655 µs</a:t>
            </a:r>
          </a:p>
        </p:txBody>
      </p:sp>
      <p:sp>
        <p:nvSpPr>
          <p:cNvPr id="55" name="Rectangle 54"/>
          <p:cNvSpPr/>
          <p:nvPr/>
        </p:nvSpPr>
        <p:spPr>
          <a:xfrm>
            <a:off x="9875520" y="4535424"/>
            <a:ext cx="2093976" cy="438912"/>
          </a:xfrm>
          <a:prstGeom prst="rect">
            <a:avLst/>
          </a:prstGeom>
          <a:solidFill>
            <a:srgbClr val="080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957816" y="4590288"/>
            <a:ext cx="2011680" cy="365760"/>
          </a:xfrm>
          <a:prstGeom prst="rect">
            <a:avLst/>
          </a:prstGeom>
          <a:noFill/>
        </p:spPr>
        <p:txBody>
          <a:bodyPr wrap="square">
            <a:spAutoFit/>
          </a:bodyPr>
          <a:lstStyle/>
          <a:p>
            <a:pPr algn="l"/>
            <a:r>
              <a:rPr sz="1400" b="1" i="0">
                <a:solidFill>
                  <a:srgbClr val="FF949A"/>
                </a:solidFill>
                <a:latin typeface="DM Sans"/>
              </a:rPr>
              <a:t>75% faster</a:t>
            </a:r>
          </a:p>
        </p:txBody>
      </p:sp>
      <p:sp>
        <p:nvSpPr>
          <p:cNvPr id="57" name="Rectangle 56"/>
          <p:cNvSpPr/>
          <p:nvPr/>
        </p:nvSpPr>
        <p:spPr>
          <a:xfrm>
            <a:off x="548640" y="5010912"/>
            <a:ext cx="4334256" cy="438912"/>
          </a:xfrm>
          <a:prstGeom prst="rect">
            <a:avLst/>
          </a:prstGeom>
          <a:solidFill>
            <a:srgbClr val="0B0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30936" y="5065776"/>
            <a:ext cx="4251960" cy="365760"/>
          </a:xfrm>
          <a:prstGeom prst="rect">
            <a:avLst/>
          </a:prstGeom>
          <a:noFill/>
        </p:spPr>
        <p:txBody>
          <a:bodyPr wrap="square">
            <a:spAutoFit/>
          </a:bodyPr>
          <a:lstStyle/>
          <a:p>
            <a:pPr algn="l"/>
            <a:r>
              <a:rPr sz="1400" b="0" i="0">
                <a:solidFill>
                  <a:srgbClr val="BBBBC8"/>
                </a:solidFill>
                <a:latin typeface="DM Sans"/>
              </a:rPr>
              <a:t>CSV write  (1M rows)</a:t>
            </a:r>
          </a:p>
        </p:txBody>
      </p:sp>
      <p:sp>
        <p:nvSpPr>
          <p:cNvPr id="59" name="Rectangle 58"/>
          <p:cNvSpPr/>
          <p:nvPr/>
        </p:nvSpPr>
        <p:spPr>
          <a:xfrm>
            <a:off x="5120640" y="5010912"/>
            <a:ext cx="2231136" cy="438912"/>
          </a:xfrm>
          <a:prstGeom prst="rect">
            <a:avLst/>
          </a:prstGeom>
          <a:solidFill>
            <a:srgbClr val="0B0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202936" y="5065776"/>
            <a:ext cx="2148840" cy="365760"/>
          </a:xfrm>
          <a:prstGeom prst="rect">
            <a:avLst/>
          </a:prstGeom>
          <a:noFill/>
        </p:spPr>
        <p:txBody>
          <a:bodyPr wrap="square">
            <a:spAutoFit/>
          </a:bodyPr>
          <a:lstStyle/>
          <a:p>
            <a:pPr algn="l"/>
            <a:r>
              <a:rPr sz="1400" b="0" i="0">
                <a:solidFill>
                  <a:srgbClr val="9AFFC4"/>
                </a:solidFill>
                <a:latin typeface="DM Sans"/>
              </a:rPr>
              <a:t>381 ms</a:t>
            </a:r>
          </a:p>
        </p:txBody>
      </p:sp>
      <p:sp>
        <p:nvSpPr>
          <p:cNvPr id="61" name="Rectangle 60"/>
          <p:cNvSpPr/>
          <p:nvPr/>
        </p:nvSpPr>
        <p:spPr>
          <a:xfrm>
            <a:off x="7635240" y="5010912"/>
            <a:ext cx="2002536" cy="438912"/>
          </a:xfrm>
          <a:prstGeom prst="rect">
            <a:avLst/>
          </a:prstGeom>
          <a:solidFill>
            <a:srgbClr val="0B0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717536" y="5065776"/>
            <a:ext cx="1920240" cy="365760"/>
          </a:xfrm>
          <a:prstGeom prst="rect">
            <a:avLst/>
          </a:prstGeom>
          <a:noFill/>
        </p:spPr>
        <p:txBody>
          <a:bodyPr wrap="square">
            <a:spAutoFit/>
          </a:bodyPr>
          <a:lstStyle/>
          <a:p>
            <a:pPr algn="l"/>
            <a:r>
              <a:rPr sz="1400" b="0" i="0">
                <a:solidFill>
                  <a:srgbClr val="BBBBC8"/>
                </a:solidFill>
                <a:latin typeface="DM Sans"/>
              </a:rPr>
              <a:t>1,765 ms</a:t>
            </a:r>
          </a:p>
        </p:txBody>
      </p:sp>
      <p:sp>
        <p:nvSpPr>
          <p:cNvPr id="63" name="Rectangle 62"/>
          <p:cNvSpPr/>
          <p:nvPr/>
        </p:nvSpPr>
        <p:spPr>
          <a:xfrm>
            <a:off x="9875520" y="5010912"/>
            <a:ext cx="2093976" cy="438912"/>
          </a:xfrm>
          <a:prstGeom prst="rect">
            <a:avLst/>
          </a:prstGeom>
          <a:solidFill>
            <a:srgbClr val="0B0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957816" y="5065776"/>
            <a:ext cx="2011680" cy="365760"/>
          </a:xfrm>
          <a:prstGeom prst="rect">
            <a:avLst/>
          </a:prstGeom>
          <a:noFill/>
        </p:spPr>
        <p:txBody>
          <a:bodyPr wrap="square">
            <a:spAutoFit/>
          </a:bodyPr>
          <a:lstStyle/>
          <a:p>
            <a:pPr algn="l"/>
            <a:r>
              <a:rPr sz="1400" b="1" i="0">
                <a:solidFill>
                  <a:srgbClr val="FF949A"/>
                </a:solidFill>
                <a:latin typeface="DM Sans"/>
              </a:rPr>
              <a:t>78% faster</a:t>
            </a:r>
          </a:p>
        </p:txBody>
      </p:sp>
      <p:sp>
        <p:nvSpPr>
          <p:cNvPr id="65" name="Rectangle 64"/>
          <p:cNvSpPr/>
          <p:nvPr/>
        </p:nvSpPr>
        <p:spPr>
          <a:xfrm>
            <a:off x="548640" y="5486400"/>
            <a:ext cx="4334256" cy="438912"/>
          </a:xfrm>
          <a:prstGeom prst="rect">
            <a:avLst/>
          </a:prstGeom>
          <a:solidFill>
            <a:srgbClr val="080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30936" y="5541264"/>
            <a:ext cx="4251960" cy="365760"/>
          </a:xfrm>
          <a:prstGeom prst="rect">
            <a:avLst/>
          </a:prstGeom>
          <a:noFill/>
        </p:spPr>
        <p:txBody>
          <a:bodyPr wrap="square">
            <a:spAutoFit/>
          </a:bodyPr>
          <a:lstStyle/>
          <a:p>
            <a:pPr algn="l"/>
            <a:r>
              <a:rPr sz="1400" b="0" i="0">
                <a:solidFill>
                  <a:srgbClr val="BBBBC8"/>
                </a:solidFill>
                <a:latin typeface="DM Sans"/>
              </a:rPr>
              <a:t>DataFrame multi-sort  (1M rows)</a:t>
            </a:r>
          </a:p>
        </p:txBody>
      </p:sp>
      <p:sp>
        <p:nvSpPr>
          <p:cNvPr id="67" name="Rectangle 66"/>
          <p:cNvSpPr/>
          <p:nvPr/>
        </p:nvSpPr>
        <p:spPr>
          <a:xfrm>
            <a:off x="5120640" y="5486400"/>
            <a:ext cx="2231136" cy="438912"/>
          </a:xfrm>
          <a:prstGeom prst="rect">
            <a:avLst/>
          </a:prstGeom>
          <a:solidFill>
            <a:srgbClr val="080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202936" y="5541264"/>
            <a:ext cx="2148840" cy="365760"/>
          </a:xfrm>
          <a:prstGeom prst="rect">
            <a:avLst/>
          </a:prstGeom>
          <a:noFill/>
        </p:spPr>
        <p:txBody>
          <a:bodyPr wrap="square">
            <a:spAutoFit/>
          </a:bodyPr>
          <a:lstStyle/>
          <a:p>
            <a:pPr algn="l"/>
            <a:r>
              <a:rPr sz="1400" b="0" i="0">
                <a:solidFill>
                  <a:srgbClr val="9AFFC4"/>
                </a:solidFill>
                <a:latin typeface="DM Sans"/>
              </a:rPr>
              <a:t>354 ms</a:t>
            </a:r>
          </a:p>
        </p:txBody>
      </p:sp>
      <p:sp>
        <p:nvSpPr>
          <p:cNvPr id="69" name="Rectangle 68"/>
          <p:cNvSpPr/>
          <p:nvPr/>
        </p:nvSpPr>
        <p:spPr>
          <a:xfrm>
            <a:off x="7635240" y="5486400"/>
            <a:ext cx="2002536" cy="438912"/>
          </a:xfrm>
          <a:prstGeom prst="rect">
            <a:avLst/>
          </a:prstGeom>
          <a:solidFill>
            <a:srgbClr val="080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717536" y="5541264"/>
            <a:ext cx="1920240" cy="365760"/>
          </a:xfrm>
          <a:prstGeom prst="rect">
            <a:avLst/>
          </a:prstGeom>
          <a:noFill/>
        </p:spPr>
        <p:txBody>
          <a:bodyPr wrap="square">
            <a:spAutoFit/>
          </a:bodyPr>
          <a:lstStyle/>
          <a:p>
            <a:pPr algn="l"/>
            <a:r>
              <a:rPr sz="1400" b="0" i="0">
                <a:solidFill>
                  <a:srgbClr val="BBBBC8"/>
                </a:solidFill>
                <a:latin typeface="DM Sans"/>
              </a:rPr>
              <a:t>565 ms</a:t>
            </a:r>
          </a:p>
        </p:txBody>
      </p:sp>
      <p:sp>
        <p:nvSpPr>
          <p:cNvPr id="71" name="Rectangle 70"/>
          <p:cNvSpPr/>
          <p:nvPr/>
        </p:nvSpPr>
        <p:spPr>
          <a:xfrm>
            <a:off x="9875520" y="5486400"/>
            <a:ext cx="2093976" cy="438912"/>
          </a:xfrm>
          <a:prstGeom prst="rect">
            <a:avLst/>
          </a:prstGeom>
          <a:solidFill>
            <a:srgbClr val="080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957816" y="5541264"/>
            <a:ext cx="2011680" cy="365760"/>
          </a:xfrm>
          <a:prstGeom prst="rect">
            <a:avLst/>
          </a:prstGeom>
          <a:noFill/>
        </p:spPr>
        <p:txBody>
          <a:bodyPr wrap="square">
            <a:spAutoFit/>
          </a:bodyPr>
          <a:lstStyle/>
          <a:p>
            <a:pPr algn="l"/>
            <a:r>
              <a:rPr sz="1400" b="1" i="0">
                <a:solidFill>
                  <a:srgbClr val="FF949A"/>
                </a:solidFill>
                <a:latin typeface="DM Sans"/>
              </a:rPr>
              <a:t>37% faster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457200"/>
            <a:ext cx="1005840" cy="438912"/>
          </a:xfrm>
          <a:prstGeom prst="rect">
            <a:avLst/>
          </a:prstGeom>
          <a:noFill/>
        </p:spPr>
        <p:txBody>
          <a:bodyPr wrap="square">
            <a:spAutoFit/>
          </a:bodyPr>
          <a:lstStyle/>
          <a:p>
            <a:pPr algn="l"/>
            <a:r>
              <a:rPr sz="2000" b="0" i="0">
                <a:solidFill>
                  <a:srgbClr val="00D0A3"/>
                </a:solidFill>
                <a:latin typeface="Space Mono"/>
              </a:rPr>
              <a:t>09</a:t>
            </a:r>
          </a:p>
        </p:txBody>
      </p:sp>
      <p:sp>
        <p:nvSpPr>
          <p:cNvPr id="3" name="TextBox 2"/>
          <p:cNvSpPr txBox="1"/>
          <p:nvPr/>
        </p:nvSpPr>
        <p:spPr>
          <a:xfrm>
            <a:off x="1691640" y="329184"/>
            <a:ext cx="10058400" cy="1234440"/>
          </a:xfrm>
          <a:prstGeom prst="rect">
            <a:avLst/>
          </a:prstGeom>
          <a:noFill/>
        </p:spPr>
        <p:txBody>
          <a:bodyPr wrap="square">
            <a:spAutoFit/>
          </a:bodyPr>
          <a:lstStyle/>
          <a:p>
            <a:pPr algn="l"/>
            <a:r>
              <a:rPr sz="3800" b="0" i="0">
                <a:solidFill>
                  <a:srgbClr val="FFFFFF"/>
                </a:solidFill>
                <a:latin typeface="Manrope"/>
              </a:rPr>
              <a:t>The daemon: load once, query in 15 ms.</a:t>
            </a:r>
          </a:p>
        </p:txBody>
      </p:sp>
      <p:sp>
        <p:nvSpPr>
          <p:cNvPr id="4" name="TextBox 3"/>
          <p:cNvSpPr txBox="1"/>
          <p:nvPr/>
        </p:nvSpPr>
        <p:spPr>
          <a:xfrm>
            <a:off x="1691640" y="1536192"/>
            <a:ext cx="9692640" cy="566928"/>
          </a:xfrm>
          <a:prstGeom prst="rect">
            <a:avLst/>
          </a:prstGeom>
          <a:noFill/>
        </p:spPr>
        <p:txBody>
          <a:bodyPr wrap="square">
            <a:spAutoFit/>
          </a:bodyPr>
          <a:lstStyle/>
          <a:p>
            <a:pPr algn="l"/>
            <a:r>
              <a:rPr sz="1900" b="0" i="0">
                <a:solidFill>
                  <a:srgbClr val="FF949A"/>
                </a:solidFill>
                <a:latin typeface="Manrope"/>
              </a:rPr>
              <a:t>Not 820. Fifteen.</a:t>
            </a:r>
          </a:p>
        </p:txBody>
      </p:sp>
      <p:sp>
        <p:nvSpPr>
          <p:cNvPr id="5" name="Rectangle 4"/>
          <p:cNvSpPr/>
          <p:nvPr/>
        </p:nvSpPr>
        <p:spPr>
          <a:xfrm>
            <a:off x="457200" y="2212848"/>
            <a:ext cx="3657600" cy="2926080"/>
          </a:xfrm>
          <a:prstGeom prst="rect">
            <a:avLst/>
          </a:prstGeom>
          <a:solidFill>
            <a:srgbClr val="1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212848"/>
            <a:ext cx="45720" cy="2926080"/>
          </a:xfrm>
          <a:prstGeom prst="rect">
            <a:avLst/>
          </a:prstGeom>
          <a:solidFill>
            <a:srgbClr val="FF9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2286000"/>
            <a:ext cx="3429000" cy="640080"/>
          </a:xfrm>
          <a:prstGeom prst="rect">
            <a:avLst/>
          </a:prstGeom>
          <a:noFill/>
        </p:spPr>
        <p:txBody>
          <a:bodyPr wrap="square">
            <a:spAutoFit/>
          </a:bodyPr>
          <a:lstStyle/>
          <a:p>
            <a:pPr algn="l"/>
            <a:r>
              <a:rPr sz="1500" b="1" i="0">
                <a:solidFill>
                  <a:srgbClr val="FF949A"/>
                </a:solidFill>
                <a:latin typeface="Manrope"/>
              </a:rPr>
              <a:t>Python + pandas
(10 transforms)</a:t>
            </a:r>
          </a:p>
        </p:txBody>
      </p:sp>
      <p:sp>
        <p:nvSpPr>
          <p:cNvPr id="8" name="TextBox 7"/>
          <p:cNvSpPr txBox="1"/>
          <p:nvPr/>
        </p:nvSpPr>
        <p:spPr>
          <a:xfrm>
            <a:off x="585216" y="2944368"/>
            <a:ext cx="3429000" cy="329184"/>
          </a:xfrm>
          <a:prstGeom prst="rect">
            <a:avLst/>
          </a:prstGeom>
          <a:noFill/>
        </p:spPr>
        <p:txBody>
          <a:bodyPr wrap="square">
            <a:spAutoFit/>
          </a:bodyPr>
          <a:lstStyle/>
          <a:p>
            <a:pPr algn="l"/>
            <a:r>
              <a:rPr sz="1200" b="0" i="0">
                <a:solidFill>
                  <a:srgbClr val="BBBBC8"/>
                </a:solidFill>
                <a:latin typeface="Space Mono"/>
              </a:rPr>
              <a:t>import cost × 10   =  6 s</a:t>
            </a:r>
          </a:p>
        </p:txBody>
      </p:sp>
      <p:sp>
        <p:nvSpPr>
          <p:cNvPr id="9" name="TextBox 8"/>
          <p:cNvSpPr txBox="1"/>
          <p:nvPr/>
        </p:nvSpPr>
        <p:spPr>
          <a:xfrm>
            <a:off x="585216" y="3291840"/>
            <a:ext cx="3429000" cy="329184"/>
          </a:xfrm>
          <a:prstGeom prst="rect">
            <a:avLst/>
          </a:prstGeom>
          <a:noFill/>
        </p:spPr>
        <p:txBody>
          <a:bodyPr wrap="square">
            <a:spAutoFit/>
          </a:bodyPr>
          <a:lstStyle/>
          <a:p>
            <a:pPr algn="l"/>
            <a:r>
              <a:rPr sz="1200" b="0" i="0">
                <a:solidFill>
                  <a:srgbClr val="BBBBC8"/>
                </a:solidFill>
                <a:latin typeface="Space Mono"/>
              </a:rPr>
              <a:t>CSV re-parse × 10  =  1.2 s</a:t>
            </a:r>
          </a:p>
        </p:txBody>
      </p:sp>
      <p:sp>
        <p:nvSpPr>
          <p:cNvPr id="10" name="TextBox 9"/>
          <p:cNvSpPr txBox="1"/>
          <p:nvPr/>
        </p:nvSpPr>
        <p:spPr>
          <a:xfrm>
            <a:off x="585216" y="3639312"/>
            <a:ext cx="3429000" cy="329184"/>
          </a:xfrm>
          <a:prstGeom prst="rect">
            <a:avLst/>
          </a:prstGeom>
          <a:noFill/>
        </p:spPr>
        <p:txBody>
          <a:bodyPr wrap="square">
            <a:spAutoFit/>
          </a:bodyPr>
          <a:lstStyle/>
          <a:p>
            <a:pPr algn="l"/>
            <a:r>
              <a:rPr sz="1200" b="0" i="0">
                <a:solidFill>
                  <a:srgbClr val="BBBBC8"/>
                </a:solidFill>
                <a:latin typeface="Space Mono"/>
              </a:rPr>
              <a:t>Compute  ≈  0.15 s</a:t>
            </a:r>
          </a:p>
        </p:txBody>
      </p:sp>
      <p:sp>
        <p:nvSpPr>
          <p:cNvPr id="11" name="TextBox 10"/>
          <p:cNvSpPr txBox="1"/>
          <p:nvPr/>
        </p:nvSpPr>
        <p:spPr>
          <a:xfrm>
            <a:off x="585216" y="3986784"/>
            <a:ext cx="3429000" cy="329184"/>
          </a:xfrm>
          <a:prstGeom prst="rect">
            <a:avLst/>
          </a:prstGeom>
          <a:noFill/>
        </p:spPr>
        <p:txBody>
          <a:bodyPr wrap="square">
            <a:spAutoFit/>
          </a:bodyPr>
          <a:lstStyle/>
          <a:p>
            <a:pPr algn="l"/>
            <a:r>
              <a:rPr sz="1200" b="0" i="0">
                <a:solidFill>
                  <a:srgbClr val="BBBBC8"/>
                </a:solidFill>
                <a:latin typeface="Space Mono"/>
              </a:rPr>
              <a:t>──────────────────</a:t>
            </a:r>
          </a:p>
        </p:txBody>
      </p:sp>
      <p:sp>
        <p:nvSpPr>
          <p:cNvPr id="12" name="TextBox 11"/>
          <p:cNvSpPr txBox="1"/>
          <p:nvPr/>
        </p:nvSpPr>
        <p:spPr>
          <a:xfrm>
            <a:off x="585216" y="4334256"/>
            <a:ext cx="3429000" cy="329184"/>
          </a:xfrm>
          <a:prstGeom prst="rect">
            <a:avLst/>
          </a:prstGeom>
          <a:noFill/>
        </p:spPr>
        <p:txBody>
          <a:bodyPr wrap="square">
            <a:spAutoFit/>
          </a:bodyPr>
          <a:lstStyle/>
          <a:p>
            <a:pPr algn="l"/>
            <a:r>
              <a:rPr sz="1200" b="1" i="0">
                <a:solidFill>
                  <a:srgbClr val="FF949A"/>
                </a:solidFill>
                <a:latin typeface="Space Mono"/>
              </a:rPr>
              <a:t>Total:  ≈ 8.2 s</a:t>
            </a:r>
          </a:p>
        </p:txBody>
      </p:sp>
      <p:sp>
        <p:nvSpPr>
          <p:cNvPr id="13" name="Rectangle 12"/>
          <p:cNvSpPr/>
          <p:nvPr/>
        </p:nvSpPr>
        <p:spPr>
          <a:xfrm>
            <a:off x="4361688" y="2212848"/>
            <a:ext cx="3657600" cy="2926080"/>
          </a:xfrm>
          <a:prstGeom prst="rect">
            <a:avLst/>
          </a:prstGeom>
          <a:solidFill>
            <a:srgbClr val="0814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2212848"/>
            <a:ext cx="45720" cy="2926080"/>
          </a:xfrm>
          <a:prstGeom prst="rect">
            <a:avLst/>
          </a:prstGeom>
          <a:solidFill>
            <a:srgbClr val="34C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9704" y="2286000"/>
            <a:ext cx="3429000" cy="640080"/>
          </a:xfrm>
          <a:prstGeom prst="rect">
            <a:avLst/>
          </a:prstGeom>
          <a:noFill/>
        </p:spPr>
        <p:txBody>
          <a:bodyPr wrap="square">
            <a:spAutoFit/>
          </a:bodyPr>
          <a:lstStyle/>
          <a:p>
            <a:pPr algn="l"/>
            <a:r>
              <a:rPr sz="1500" b="1" i="0">
                <a:solidFill>
                  <a:srgbClr val="34C759"/>
                </a:solidFill>
                <a:latin typeface="Manrope"/>
              </a:rPr>
              <a:t>swiftpandas run
(10 transforms)</a:t>
            </a:r>
          </a:p>
        </p:txBody>
      </p:sp>
      <p:sp>
        <p:nvSpPr>
          <p:cNvPr id="16" name="TextBox 15"/>
          <p:cNvSpPr txBox="1"/>
          <p:nvPr/>
        </p:nvSpPr>
        <p:spPr>
          <a:xfrm>
            <a:off x="4489704" y="2944368"/>
            <a:ext cx="3429000" cy="329184"/>
          </a:xfrm>
          <a:prstGeom prst="rect">
            <a:avLst/>
          </a:prstGeom>
          <a:noFill/>
        </p:spPr>
        <p:txBody>
          <a:bodyPr wrap="square">
            <a:spAutoFit/>
          </a:bodyPr>
          <a:lstStyle/>
          <a:p>
            <a:pPr algn="l"/>
            <a:r>
              <a:rPr sz="1200" b="0" i="0">
                <a:solidFill>
                  <a:srgbClr val="BBBBC8"/>
                </a:solidFill>
                <a:latin typeface="Space Mono"/>
              </a:rPr>
              <a:t>No import tax</a:t>
            </a:r>
          </a:p>
        </p:txBody>
      </p:sp>
      <p:sp>
        <p:nvSpPr>
          <p:cNvPr id="17" name="TextBox 16"/>
          <p:cNvSpPr txBox="1"/>
          <p:nvPr/>
        </p:nvSpPr>
        <p:spPr>
          <a:xfrm>
            <a:off x="4489704" y="3291840"/>
            <a:ext cx="3429000" cy="329184"/>
          </a:xfrm>
          <a:prstGeom prst="rect">
            <a:avLst/>
          </a:prstGeom>
          <a:noFill/>
        </p:spPr>
        <p:txBody>
          <a:bodyPr wrap="square">
            <a:spAutoFit/>
          </a:bodyPr>
          <a:lstStyle/>
          <a:p>
            <a:pPr algn="l"/>
            <a:r>
              <a:rPr sz="1200" b="0" i="0">
                <a:solidFill>
                  <a:srgbClr val="BBBBC8"/>
                </a:solidFill>
                <a:latin typeface="Space Mono"/>
              </a:rPr>
              <a:t>CSV re-parse × 10  =  0.7 s</a:t>
            </a:r>
          </a:p>
        </p:txBody>
      </p:sp>
      <p:sp>
        <p:nvSpPr>
          <p:cNvPr id="18" name="TextBox 17"/>
          <p:cNvSpPr txBox="1"/>
          <p:nvPr/>
        </p:nvSpPr>
        <p:spPr>
          <a:xfrm>
            <a:off x="4489704" y="3639312"/>
            <a:ext cx="3429000" cy="329184"/>
          </a:xfrm>
          <a:prstGeom prst="rect">
            <a:avLst/>
          </a:prstGeom>
          <a:noFill/>
        </p:spPr>
        <p:txBody>
          <a:bodyPr wrap="square">
            <a:spAutoFit/>
          </a:bodyPr>
          <a:lstStyle/>
          <a:p>
            <a:pPr algn="l"/>
            <a:r>
              <a:rPr sz="1200" b="0" i="0">
                <a:solidFill>
                  <a:srgbClr val="BBBBC8"/>
                </a:solidFill>
                <a:latin typeface="Space Mono"/>
              </a:rPr>
              <a:t>Compute  ≈  0.15 s</a:t>
            </a:r>
          </a:p>
        </p:txBody>
      </p:sp>
      <p:sp>
        <p:nvSpPr>
          <p:cNvPr id="19" name="TextBox 18"/>
          <p:cNvSpPr txBox="1"/>
          <p:nvPr/>
        </p:nvSpPr>
        <p:spPr>
          <a:xfrm>
            <a:off x="4489704" y="3986784"/>
            <a:ext cx="3429000" cy="329184"/>
          </a:xfrm>
          <a:prstGeom prst="rect">
            <a:avLst/>
          </a:prstGeom>
          <a:noFill/>
        </p:spPr>
        <p:txBody>
          <a:bodyPr wrap="square">
            <a:spAutoFit/>
          </a:bodyPr>
          <a:lstStyle/>
          <a:p>
            <a:pPr algn="l"/>
            <a:r>
              <a:rPr sz="1200" b="0" i="0">
                <a:solidFill>
                  <a:srgbClr val="BBBBC8"/>
                </a:solidFill>
                <a:latin typeface="Space Mono"/>
              </a:rPr>
              <a:t>──────────────────</a:t>
            </a:r>
          </a:p>
        </p:txBody>
      </p:sp>
      <p:sp>
        <p:nvSpPr>
          <p:cNvPr id="20" name="TextBox 19"/>
          <p:cNvSpPr txBox="1"/>
          <p:nvPr/>
        </p:nvSpPr>
        <p:spPr>
          <a:xfrm>
            <a:off x="4489704" y="4334256"/>
            <a:ext cx="3429000" cy="329184"/>
          </a:xfrm>
          <a:prstGeom prst="rect">
            <a:avLst/>
          </a:prstGeom>
          <a:noFill/>
        </p:spPr>
        <p:txBody>
          <a:bodyPr wrap="square">
            <a:spAutoFit/>
          </a:bodyPr>
          <a:lstStyle/>
          <a:p>
            <a:pPr algn="l"/>
            <a:r>
              <a:rPr sz="1200" b="1" i="0">
                <a:solidFill>
                  <a:srgbClr val="34C759"/>
                </a:solidFill>
                <a:latin typeface="Space Mono"/>
              </a:rPr>
              <a:t>Total:  ≈ 1.15 s</a:t>
            </a:r>
          </a:p>
        </p:txBody>
      </p:sp>
      <p:sp>
        <p:nvSpPr>
          <p:cNvPr id="21" name="Rectangle 20"/>
          <p:cNvSpPr/>
          <p:nvPr/>
        </p:nvSpPr>
        <p:spPr>
          <a:xfrm>
            <a:off x="8266175" y="2212848"/>
            <a:ext cx="3657600" cy="2926080"/>
          </a:xfrm>
          <a:prstGeom prst="rect">
            <a:avLst/>
          </a:prstGeom>
          <a:solidFill>
            <a:srgbClr val="06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66175" y="2212848"/>
            <a:ext cx="45720" cy="2926080"/>
          </a:xfrm>
          <a:prstGeom prst="rect">
            <a:avLst/>
          </a:prstGeom>
          <a:solidFill>
            <a:srgbClr val="00D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94191" y="2286000"/>
            <a:ext cx="3429000" cy="640080"/>
          </a:xfrm>
          <a:prstGeom prst="rect">
            <a:avLst/>
          </a:prstGeom>
          <a:noFill/>
        </p:spPr>
        <p:txBody>
          <a:bodyPr wrap="square">
            <a:spAutoFit/>
          </a:bodyPr>
          <a:lstStyle/>
          <a:p>
            <a:pPr algn="l"/>
            <a:r>
              <a:rPr sz="1500" b="1" i="0">
                <a:solidFill>
                  <a:srgbClr val="00D0A3"/>
                </a:solidFill>
                <a:latin typeface="Manrope"/>
              </a:rPr>
              <a:t>swiftpandas + daemon
(10 transforms)</a:t>
            </a:r>
          </a:p>
        </p:txBody>
      </p:sp>
      <p:sp>
        <p:nvSpPr>
          <p:cNvPr id="24" name="TextBox 23"/>
          <p:cNvSpPr txBox="1"/>
          <p:nvPr/>
        </p:nvSpPr>
        <p:spPr>
          <a:xfrm>
            <a:off x="8394191" y="2944368"/>
            <a:ext cx="3429000" cy="329184"/>
          </a:xfrm>
          <a:prstGeom prst="rect">
            <a:avLst/>
          </a:prstGeom>
          <a:noFill/>
        </p:spPr>
        <p:txBody>
          <a:bodyPr wrap="square">
            <a:spAutoFit/>
          </a:bodyPr>
          <a:lstStyle/>
          <a:p>
            <a:pPr algn="l"/>
            <a:r>
              <a:rPr sz="1200" b="0" i="0">
                <a:solidFill>
                  <a:srgbClr val="BBBBC8"/>
                </a:solidFill>
                <a:latin typeface="Space Mono"/>
              </a:rPr>
              <a:t>Server start  =  140 ms (once)</a:t>
            </a:r>
          </a:p>
        </p:txBody>
      </p:sp>
      <p:sp>
        <p:nvSpPr>
          <p:cNvPr id="25" name="TextBox 24"/>
          <p:cNvSpPr txBox="1"/>
          <p:nvPr/>
        </p:nvSpPr>
        <p:spPr>
          <a:xfrm>
            <a:off x="8394191" y="3291840"/>
            <a:ext cx="3429000" cy="329184"/>
          </a:xfrm>
          <a:prstGeom prst="rect">
            <a:avLst/>
          </a:prstGeom>
          <a:noFill/>
        </p:spPr>
        <p:txBody>
          <a:bodyPr wrap="square">
            <a:spAutoFit/>
          </a:bodyPr>
          <a:lstStyle/>
          <a:p>
            <a:pPr algn="l"/>
            <a:r>
              <a:rPr sz="1200" b="0" i="0">
                <a:solidFill>
                  <a:srgbClr val="BBBBC8"/>
                </a:solidFill>
                <a:latin typeface="Space Mono"/>
              </a:rPr>
              <a:t>CSV load  =  80 ms (once)</a:t>
            </a:r>
          </a:p>
        </p:txBody>
      </p:sp>
      <p:sp>
        <p:nvSpPr>
          <p:cNvPr id="26" name="TextBox 25"/>
          <p:cNvSpPr txBox="1"/>
          <p:nvPr/>
        </p:nvSpPr>
        <p:spPr>
          <a:xfrm>
            <a:off x="8394191" y="3639312"/>
            <a:ext cx="3429000" cy="329184"/>
          </a:xfrm>
          <a:prstGeom prst="rect">
            <a:avLst/>
          </a:prstGeom>
          <a:noFill/>
        </p:spPr>
        <p:txBody>
          <a:bodyPr wrap="square">
            <a:spAutoFit/>
          </a:bodyPr>
          <a:lstStyle/>
          <a:p>
            <a:pPr algn="l"/>
            <a:r>
              <a:rPr sz="1200" b="0" i="0">
                <a:solidFill>
                  <a:srgbClr val="BBBBC8"/>
                </a:solidFill>
                <a:latin typeface="Space Mono"/>
              </a:rPr>
              <a:t>Each transform  =  15 ms</a:t>
            </a:r>
          </a:p>
        </p:txBody>
      </p:sp>
      <p:sp>
        <p:nvSpPr>
          <p:cNvPr id="27" name="TextBox 26"/>
          <p:cNvSpPr txBox="1"/>
          <p:nvPr/>
        </p:nvSpPr>
        <p:spPr>
          <a:xfrm>
            <a:off x="8394191" y="3986784"/>
            <a:ext cx="3429000" cy="329184"/>
          </a:xfrm>
          <a:prstGeom prst="rect">
            <a:avLst/>
          </a:prstGeom>
          <a:noFill/>
        </p:spPr>
        <p:txBody>
          <a:bodyPr wrap="square">
            <a:spAutoFit/>
          </a:bodyPr>
          <a:lstStyle/>
          <a:p>
            <a:pPr algn="l"/>
            <a:r>
              <a:rPr sz="1200" b="0" i="0">
                <a:solidFill>
                  <a:srgbClr val="BBBBC8"/>
                </a:solidFill>
                <a:latin typeface="Space Mono"/>
              </a:rPr>
              <a:t>──────────────────</a:t>
            </a:r>
          </a:p>
        </p:txBody>
      </p:sp>
      <p:sp>
        <p:nvSpPr>
          <p:cNvPr id="28" name="TextBox 27"/>
          <p:cNvSpPr txBox="1"/>
          <p:nvPr/>
        </p:nvSpPr>
        <p:spPr>
          <a:xfrm>
            <a:off x="8394191" y="4334256"/>
            <a:ext cx="3429000" cy="329184"/>
          </a:xfrm>
          <a:prstGeom prst="rect">
            <a:avLst/>
          </a:prstGeom>
          <a:noFill/>
        </p:spPr>
        <p:txBody>
          <a:bodyPr wrap="square">
            <a:spAutoFit/>
          </a:bodyPr>
          <a:lstStyle/>
          <a:p>
            <a:pPr algn="l"/>
            <a:r>
              <a:rPr sz="1200" b="1" i="0">
                <a:solidFill>
                  <a:srgbClr val="00D0A3"/>
                </a:solidFill>
                <a:latin typeface="Space Mono"/>
              </a:rPr>
              <a:t>Total:  ≈ 380 ms</a:t>
            </a:r>
          </a:p>
        </p:txBody>
      </p:sp>
      <p:sp>
        <p:nvSpPr>
          <p:cNvPr id="29" name="Rectangle 28"/>
          <p:cNvSpPr/>
          <p:nvPr/>
        </p:nvSpPr>
        <p:spPr>
          <a:xfrm>
            <a:off x="457200" y="5257800"/>
            <a:ext cx="11292840" cy="1389888"/>
          </a:xfrm>
          <a:prstGeom prst="rect">
            <a:avLst/>
          </a:prstGeom>
          <a:solidFill>
            <a:srgbClr val="0606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5257800"/>
            <a:ext cx="45720" cy="1389888"/>
          </a:xfrm>
          <a:prstGeom prst="rect">
            <a:avLst/>
          </a:prstGeom>
          <a:solidFill>
            <a:srgbClr val="00D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5321808"/>
            <a:ext cx="10972800" cy="1234440"/>
          </a:xfrm>
          <a:prstGeom prst="rect">
            <a:avLst/>
          </a:prstGeom>
          <a:noFill/>
        </p:spPr>
        <p:txBody>
          <a:bodyPr wrap="square">
            <a:spAutoFit/>
          </a:bodyPr>
          <a:lstStyle/>
          <a:p>
            <a:pPr algn="l"/>
            <a:r>
              <a:rPr sz="1200" b="0" i="0">
                <a:solidFill>
                  <a:srgbClr val="9AFFC4"/>
                </a:solidFill>
                <a:latin typeface="Space Mono"/>
              </a:rPr>
              <a:t>swiftpandas server start                                  # 140 ms, once
swiftpandas load sales.csv --name df                      # 80 ms, once
swiftpandas pipe --from df -c "filter(rev &gt; 10000) | groupby(region) | agg(sum:rev)"   # 15 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457200"/>
            <a:ext cx="1005840" cy="438912"/>
          </a:xfrm>
          <a:prstGeom prst="rect">
            <a:avLst/>
          </a:prstGeom>
          <a:noFill/>
        </p:spPr>
        <p:txBody>
          <a:bodyPr wrap="square">
            <a:spAutoFit/>
          </a:bodyPr>
          <a:lstStyle/>
          <a:p>
            <a:pPr algn="l"/>
            <a:r>
              <a:rPr sz="2000" b="0" i="0">
                <a:solidFill>
                  <a:srgbClr val="00D0A3"/>
                </a:solidFill>
                <a:latin typeface="Space Mono"/>
              </a:rPr>
              <a:t>10</a:t>
            </a:r>
          </a:p>
        </p:txBody>
      </p:sp>
      <p:sp>
        <p:nvSpPr>
          <p:cNvPr id="3" name="TextBox 2"/>
          <p:cNvSpPr txBox="1"/>
          <p:nvPr/>
        </p:nvSpPr>
        <p:spPr>
          <a:xfrm>
            <a:off x="1691640" y="329184"/>
            <a:ext cx="10058400" cy="1234440"/>
          </a:xfrm>
          <a:prstGeom prst="rect">
            <a:avLst/>
          </a:prstGeom>
          <a:noFill/>
        </p:spPr>
        <p:txBody>
          <a:bodyPr wrap="square">
            <a:spAutoFit/>
          </a:bodyPr>
          <a:lstStyle/>
          <a:p>
            <a:pPr algn="l"/>
            <a:r>
              <a:rPr sz="3800" b="0" i="0">
                <a:solidFill>
                  <a:srgbClr val="FFFFFF"/>
                </a:solidFill>
                <a:latin typeface="Manrope"/>
              </a:rPr>
              <a:t>Kiraa is building in the open.</a:t>
            </a:r>
          </a:p>
        </p:txBody>
      </p:sp>
      <p:sp>
        <p:nvSpPr>
          <p:cNvPr id="4" name="TextBox 3"/>
          <p:cNvSpPr txBox="1"/>
          <p:nvPr/>
        </p:nvSpPr>
        <p:spPr>
          <a:xfrm>
            <a:off x="1691640" y="1536192"/>
            <a:ext cx="9692640" cy="566928"/>
          </a:xfrm>
          <a:prstGeom prst="rect">
            <a:avLst/>
          </a:prstGeom>
          <a:noFill/>
        </p:spPr>
        <p:txBody>
          <a:bodyPr wrap="square">
            <a:spAutoFit/>
          </a:bodyPr>
          <a:lstStyle/>
          <a:p>
            <a:pPr algn="l"/>
            <a:r>
              <a:rPr sz="1900" b="0" i="0">
                <a:solidFill>
                  <a:srgbClr val="FF949A"/>
                </a:solidFill>
                <a:latin typeface="Manrope"/>
              </a:rPr>
              <a:t>Apache 2.0 · GitHub · Homebrew · SwiftPM · XCFramework.</a:t>
            </a:r>
          </a:p>
        </p:txBody>
      </p:sp>
      <p:sp>
        <p:nvSpPr>
          <p:cNvPr id="5" name="TextBox 4"/>
          <p:cNvSpPr txBox="1"/>
          <p:nvPr/>
        </p:nvSpPr>
        <p:spPr>
          <a:xfrm>
            <a:off x="1691640" y="2331720"/>
            <a:ext cx="9692640" cy="402336"/>
          </a:xfrm>
          <a:prstGeom prst="rect">
            <a:avLst/>
          </a:prstGeom>
          <a:noFill/>
        </p:spPr>
        <p:txBody>
          <a:bodyPr wrap="square">
            <a:spAutoFit/>
          </a:bodyPr>
          <a:lstStyle/>
          <a:p>
            <a:pPr algn="l"/>
            <a:r>
              <a:rPr sz="1600" b="0" i="0">
                <a:solidFill>
                  <a:srgbClr val="BBBBC8"/>
                </a:solidFill>
                <a:latin typeface="DM Sans"/>
              </a:rPr>
              <a:t>—  Apache 2.0 licensed — use it anywhere, for anything, commercially</a:t>
            </a:r>
          </a:p>
        </p:txBody>
      </p:sp>
      <p:sp>
        <p:nvSpPr>
          <p:cNvPr id="6" name="TextBox 5"/>
          <p:cNvSpPr txBox="1"/>
          <p:nvPr/>
        </p:nvSpPr>
        <p:spPr>
          <a:xfrm>
            <a:off x="1691640" y="2761488"/>
            <a:ext cx="9692640" cy="402336"/>
          </a:xfrm>
          <a:prstGeom prst="rect">
            <a:avLst/>
          </a:prstGeom>
          <a:noFill/>
        </p:spPr>
        <p:txBody>
          <a:bodyPr wrap="square">
            <a:spAutoFit/>
          </a:bodyPr>
          <a:lstStyle/>
          <a:p>
            <a:pPr algn="l"/>
            <a:r>
              <a:rPr sz="1600" b="1" i="0">
                <a:solidFill>
                  <a:srgbClr val="FF949A"/>
                </a:solidFill>
                <a:latin typeface="DM Sans"/>
              </a:rPr>
              <a:t>  github.com/kiraa-ai/kiraa-swift-pandas — star the repo</a:t>
            </a:r>
          </a:p>
        </p:txBody>
      </p:sp>
      <p:sp>
        <p:nvSpPr>
          <p:cNvPr id="7" name="TextBox 6"/>
          <p:cNvSpPr txBox="1"/>
          <p:nvPr/>
        </p:nvSpPr>
        <p:spPr>
          <a:xfrm>
            <a:off x="1691640" y="3191256"/>
            <a:ext cx="9692640" cy="402336"/>
          </a:xfrm>
          <a:prstGeom prst="rect">
            <a:avLst/>
          </a:prstGeom>
          <a:noFill/>
        </p:spPr>
        <p:txBody>
          <a:bodyPr wrap="square">
            <a:spAutoFit/>
          </a:bodyPr>
          <a:lstStyle/>
          <a:p>
            <a:pPr algn="l"/>
            <a:r>
              <a:rPr sz="1600" b="1" i="0">
                <a:solidFill>
                  <a:srgbClr val="FF949A"/>
                </a:solidFill>
                <a:latin typeface="DM Sans"/>
              </a:rPr>
              <a:t>  brew install kiraa-ai/tap/swiftpandas — try it today</a:t>
            </a:r>
          </a:p>
        </p:txBody>
      </p:sp>
      <p:sp>
        <p:nvSpPr>
          <p:cNvPr id="8" name="TextBox 7"/>
          <p:cNvSpPr txBox="1"/>
          <p:nvPr/>
        </p:nvSpPr>
        <p:spPr>
          <a:xfrm>
            <a:off x="1691640" y="3621024"/>
            <a:ext cx="9692640" cy="402336"/>
          </a:xfrm>
          <a:prstGeom prst="rect">
            <a:avLst/>
          </a:prstGeom>
          <a:noFill/>
        </p:spPr>
        <p:txBody>
          <a:bodyPr wrap="square">
            <a:spAutoFit/>
          </a:bodyPr>
          <a:lstStyle/>
          <a:p>
            <a:pPr algn="l"/>
            <a:r>
              <a:rPr sz="1600" b="1" i="0">
                <a:solidFill>
                  <a:srgbClr val="FF949A"/>
                </a:solidFill>
                <a:latin typeface="DM Sans"/>
              </a:rPr>
              <a:t>  One line in Package.swift — embed in any Swift app</a:t>
            </a:r>
          </a:p>
        </p:txBody>
      </p:sp>
      <p:sp>
        <p:nvSpPr>
          <p:cNvPr id="9" name="TextBox 8"/>
          <p:cNvSpPr txBox="1"/>
          <p:nvPr/>
        </p:nvSpPr>
        <p:spPr>
          <a:xfrm>
            <a:off x="1691640" y="4050792"/>
            <a:ext cx="9692640" cy="402336"/>
          </a:xfrm>
          <a:prstGeom prst="rect">
            <a:avLst/>
          </a:prstGeom>
          <a:noFill/>
        </p:spPr>
        <p:txBody>
          <a:bodyPr wrap="square">
            <a:spAutoFit/>
          </a:bodyPr>
          <a:lstStyle/>
          <a:p>
            <a:pPr algn="l"/>
            <a:r>
              <a:rPr sz="1600" b="0" i="0">
                <a:solidFill>
                  <a:srgbClr val="BBBBC8"/>
                </a:solidFill>
                <a:latin typeface="DM Sans"/>
              </a:rPr>
              <a:t>—  Precompiled XCFramework — zero build-time cost for consumers</a:t>
            </a:r>
          </a:p>
        </p:txBody>
      </p:sp>
      <p:sp>
        <p:nvSpPr>
          <p:cNvPr id="10" name="TextBox 9"/>
          <p:cNvSpPr txBox="1"/>
          <p:nvPr/>
        </p:nvSpPr>
        <p:spPr>
          <a:xfrm>
            <a:off x="1691640" y="4480559"/>
            <a:ext cx="9692640" cy="402336"/>
          </a:xfrm>
          <a:prstGeom prst="rect">
            <a:avLst/>
          </a:prstGeom>
          <a:noFill/>
        </p:spPr>
        <p:txBody>
          <a:bodyPr wrap="square">
            <a:spAutoFit/>
          </a:bodyPr>
          <a:lstStyle/>
          <a:p>
            <a:pPr algn="l"/>
            <a:r>
              <a:rPr sz="1600" b="0" i="0">
                <a:solidFill>
                  <a:srgbClr val="BBBBC8"/>
                </a:solidFill>
                <a:latin typeface="DM Sans"/>
              </a:rPr>
              <a:t>—  415 tests, all green  ·  v0.6.2-beta  ·  v1.0 roadmap is public</a:t>
            </a:r>
          </a:p>
        </p:txBody>
      </p:sp>
      <p:sp>
        <p:nvSpPr>
          <p:cNvPr id="11" name="Rectangle 10"/>
          <p:cNvSpPr/>
          <p:nvPr/>
        </p:nvSpPr>
        <p:spPr>
          <a:xfrm>
            <a:off x="548640" y="5212080"/>
            <a:ext cx="11091672" cy="10972"/>
          </a:xfrm>
          <a:prstGeom prst="rect">
            <a:avLst/>
          </a:prstGeom>
          <a:solidFill>
            <a:srgbClr val="282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5321808"/>
            <a:ext cx="11091672" cy="475488"/>
          </a:xfrm>
          <a:prstGeom prst="rect">
            <a:avLst/>
          </a:prstGeom>
          <a:noFill/>
        </p:spPr>
        <p:txBody>
          <a:bodyPr wrap="square">
            <a:spAutoFit/>
          </a:bodyPr>
          <a:lstStyle/>
          <a:p>
            <a:pPr algn="ctr"/>
            <a:r>
              <a:rPr sz="2000" b="1" i="0">
                <a:solidFill>
                  <a:srgbClr val="FF949A"/>
                </a:solidFill>
                <a:latin typeface="Manrope"/>
              </a:rPr>
              <a:t>A deep-dive technical video on SwiftPandas is coming shortly.</a:t>
            </a:r>
          </a:p>
        </p:txBody>
      </p:sp>
      <p:sp>
        <p:nvSpPr>
          <p:cNvPr id="13" name="TextBox 12"/>
          <p:cNvSpPr txBox="1"/>
          <p:nvPr/>
        </p:nvSpPr>
        <p:spPr>
          <a:xfrm>
            <a:off x="548640" y="5779008"/>
            <a:ext cx="11091672" cy="411480"/>
          </a:xfrm>
          <a:prstGeom prst="rect">
            <a:avLst/>
          </a:prstGeom>
          <a:noFill/>
        </p:spPr>
        <p:txBody>
          <a:bodyPr wrap="square">
            <a:spAutoFit/>
          </a:bodyPr>
          <a:lstStyle/>
          <a:p>
            <a:pPr algn="ctr"/>
            <a:r>
              <a:rPr sz="1700" b="0" i="1">
                <a:solidFill>
                  <a:srgbClr val="BBBBC8"/>
                </a:solidFill>
                <a:latin typeface="Manrope"/>
              </a:rPr>
              <a:t>Architecture · benchmarks · how to embed it in your own projects.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457200"/>
            <a:ext cx="1005840" cy="438912"/>
          </a:xfrm>
          <a:prstGeom prst="rect">
            <a:avLst/>
          </a:prstGeom>
          <a:noFill/>
        </p:spPr>
        <p:txBody>
          <a:bodyPr wrap="square">
            <a:spAutoFit/>
          </a:bodyPr>
          <a:lstStyle/>
          <a:p>
            <a:pPr algn="l"/>
            <a:r>
              <a:rPr sz="2000" b="0" i="0">
                <a:solidFill>
                  <a:srgbClr val="00D0A3"/>
                </a:solidFill>
                <a:latin typeface="Space Mono"/>
              </a:rPr>
              <a:t>11</a:t>
            </a:r>
          </a:p>
        </p:txBody>
      </p:sp>
      <p:sp>
        <p:nvSpPr>
          <p:cNvPr id="3" name="TextBox 2"/>
          <p:cNvSpPr txBox="1"/>
          <p:nvPr/>
        </p:nvSpPr>
        <p:spPr>
          <a:xfrm>
            <a:off x="1691640" y="329184"/>
            <a:ext cx="10058400" cy="1234440"/>
          </a:xfrm>
          <a:prstGeom prst="rect">
            <a:avLst/>
          </a:prstGeom>
          <a:noFill/>
        </p:spPr>
        <p:txBody>
          <a:bodyPr wrap="square">
            <a:spAutoFit/>
          </a:bodyPr>
          <a:lstStyle/>
          <a:p>
            <a:pPr algn="l"/>
            <a:r>
              <a:rPr sz="3800" b="0" i="0">
                <a:solidFill>
                  <a:srgbClr val="FFFFFF"/>
                </a:solidFill>
                <a:latin typeface="Manrope"/>
              </a:rPr>
              <a:t>The road to v1.0 and beyond.</a:t>
            </a:r>
          </a:p>
        </p:txBody>
      </p:sp>
      <p:sp>
        <p:nvSpPr>
          <p:cNvPr id="4" name="TextBox 3"/>
          <p:cNvSpPr txBox="1"/>
          <p:nvPr/>
        </p:nvSpPr>
        <p:spPr>
          <a:xfrm>
            <a:off x="1691640" y="1536192"/>
            <a:ext cx="9692640" cy="566928"/>
          </a:xfrm>
          <a:prstGeom prst="rect">
            <a:avLst/>
          </a:prstGeom>
          <a:noFill/>
        </p:spPr>
        <p:txBody>
          <a:bodyPr wrap="square">
            <a:spAutoFit/>
          </a:bodyPr>
          <a:lstStyle/>
          <a:p>
            <a:pPr algn="l"/>
            <a:r>
              <a:rPr sz="1900" b="0" i="0">
                <a:solidFill>
                  <a:srgbClr val="FF949A"/>
                </a:solidFill>
                <a:latin typeface="Manrope"/>
              </a:rPr>
              <a:t>Honest gap list — publicly tracked in ROADMAP.md.</a:t>
            </a:r>
          </a:p>
        </p:txBody>
      </p:sp>
      <p:sp>
        <p:nvSpPr>
          <p:cNvPr id="5" name="Rectangle 4"/>
          <p:cNvSpPr/>
          <p:nvPr/>
        </p:nvSpPr>
        <p:spPr>
          <a:xfrm>
            <a:off x="548640" y="2212848"/>
            <a:ext cx="45720" cy="3291840"/>
          </a:xfrm>
          <a:prstGeom prst="rect">
            <a:avLst/>
          </a:prstGeom>
          <a:solidFill>
            <a:srgbClr val="00D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2212848"/>
            <a:ext cx="5029200" cy="365760"/>
          </a:xfrm>
          <a:prstGeom prst="rect">
            <a:avLst/>
          </a:prstGeom>
          <a:noFill/>
        </p:spPr>
        <p:txBody>
          <a:bodyPr wrap="square">
            <a:spAutoFit/>
          </a:bodyPr>
          <a:lstStyle/>
          <a:p>
            <a:pPr algn="l"/>
            <a:r>
              <a:rPr sz="1300" b="1" i="0">
                <a:solidFill>
                  <a:srgbClr val="00D0A3"/>
                </a:solidFill>
                <a:latin typeface="Space Mono"/>
              </a:rPr>
              <a:t>✅  Shipped</a:t>
            </a:r>
          </a:p>
        </p:txBody>
      </p:sp>
      <p:sp>
        <p:nvSpPr>
          <p:cNvPr id="7" name="TextBox 6"/>
          <p:cNvSpPr txBox="1"/>
          <p:nvPr/>
        </p:nvSpPr>
        <p:spPr>
          <a:xfrm>
            <a:off x="713232" y="2633472"/>
            <a:ext cx="5212080" cy="402336"/>
          </a:xfrm>
          <a:prstGeom prst="rect">
            <a:avLst/>
          </a:prstGeom>
          <a:noFill/>
        </p:spPr>
        <p:txBody>
          <a:bodyPr wrap="square">
            <a:spAutoFit/>
          </a:bodyPr>
          <a:lstStyle/>
          <a:p>
            <a:pPr algn="l"/>
            <a:r>
              <a:rPr sz="1400" b="0" i="0">
                <a:solidFill>
                  <a:srgbClr val="00D0A3"/>
                </a:solidFill>
                <a:latin typeface="DM Sans"/>
              </a:rPr>
              <a:t>  ✓  Pure-Swift DataFrame / Series / Index API</a:t>
            </a:r>
          </a:p>
        </p:txBody>
      </p:sp>
      <p:sp>
        <p:nvSpPr>
          <p:cNvPr id="8" name="TextBox 7"/>
          <p:cNvSpPr txBox="1"/>
          <p:nvPr/>
        </p:nvSpPr>
        <p:spPr>
          <a:xfrm>
            <a:off x="713232" y="3072384"/>
            <a:ext cx="5212080" cy="402336"/>
          </a:xfrm>
          <a:prstGeom prst="rect">
            <a:avLst/>
          </a:prstGeom>
          <a:noFill/>
        </p:spPr>
        <p:txBody>
          <a:bodyPr wrap="square">
            <a:spAutoFit/>
          </a:bodyPr>
          <a:lstStyle/>
          <a:p>
            <a:pPr algn="l"/>
            <a:r>
              <a:rPr sz="1400" b="0" i="0">
                <a:solidFill>
                  <a:srgbClr val="00D0A3"/>
                </a:solidFill>
                <a:latin typeface="DM Sans"/>
              </a:rPr>
              <a:t>  ✓  Metal GPU shaders — GroupBy + Merge, seven kernels</a:t>
            </a:r>
          </a:p>
        </p:txBody>
      </p:sp>
      <p:sp>
        <p:nvSpPr>
          <p:cNvPr id="9" name="TextBox 8"/>
          <p:cNvSpPr txBox="1"/>
          <p:nvPr/>
        </p:nvSpPr>
        <p:spPr>
          <a:xfrm>
            <a:off x="713232" y="3511296"/>
            <a:ext cx="5212080" cy="402336"/>
          </a:xfrm>
          <a:prstGeom prst="rect">
            <a:avLst/>
          </a:prstGeom>
          <a:noFill/>
        </p:spPr>
        <p:txBody>
          <a:bodyPr wrap="square">
            <a:spAutoFit/>
          </a:bodyPr>
          <a:lstStyle/>
          <a:p>
            <a:pPr algn="l"/>
            <a:r>
              <a:rPr sz="1400" b="0" i="0">
                <a:solidFill>
                  <a:srgbClr val="00D0A3"/>
                </a:solidFill>
                <a:latin typeface="DM Sans"/>
              </a:rPr>
              <a:t>  ✓  Lazy evaluation + four-pass query optimiser</a:t>
            </a:r>
          </a:p>
        </p:txBody>
      </p:sp>
      <p:sp>
        <p:nvSpPr>
          <p:cNvPr id="10" name="TextBox 9"/>
          <p:cNvSpPr txBox="1"/>
          <p:nvPr/>
        </p:nvSpPr>
        <p:spPr>
          <a:xfrm>
            <a:off x="713232" y="3950208"/>
            <a:ext cx="5212080" cy="402336"/>
          </a:xfrm>
          <a:prstGeom prst="rect">
            <a:avLst/>
          </a:prstGeom>
          <a:noFill/>
        </p:spPr>
        <p:txBody>
          <a:bodyPr wrap="square">
            <a:spAutoFit/>
          </a:bodyPr>
          <a:lstStyle/>
          <a:p>
            <a:pPr algn="l"/>
            <a:r>
              <a:rPr sz="1400" b="0" i="0">
                <a:solidFill>
                  <a:srgbClr val="00D0A3"/>
                </a:solidFill>
                <a:latin typeface="DM Sans"/>
              </a:rPr>
              <a:t>  ✓  Resident-memory daemon</a:t>
            </a:r>
          </a:p>
        </p:txBody>
      </p:sp>
      <p:sp>
        <p:nvSpPr>
          <p:cNvPr id="11" name="TextBox 10"/>
          <p:cNvSpPr txBox="1"/>
          <p:nvPr/>
        </p:nvSpPr>
        <p:spPr>
          <a:xfrm>
            <a:off x="713232" y="4389120"/>
            <a:ext cx="5212080" cy="402336"/>
          </a:xfrm>
          <a:prstGeom prst="rect">
            <a:avLst/>
          </a:prstGeom>
          <a:noFill/>
        </p:spPr>
        <p:txBody>
          <a:bodyPr wrap="square">
            <a:spAutoFit/>
          </a:bodyPr>
          <a:lstStyle/>
          <a:p>
            <a:pPr algn="l"/>
            <a:r>
              <a:rPr sz="1400" b="0" i="0">
                <a:solidFill>
                  <a:srgbClr val="00D0A3"/>
                </a:solidFill>
                <a:latin typeface="DM Sans"/>
              </a:rPr>
              <a:t>  ✓  CSV + JSON I/O  ·  Homebrew tap  ·  XCFramework</a:t>
            </a:r>
          </a:p>
        </p:txBody>
      </p:sp>
      <p:sp>
        <p:nvSpPr>
          <p:cNvPr id="12" name="TextBox 11"/>
          <p:cNvSpPr txBox="1"/>
          <p:nvPr/>
        </p:nvSpPr>
        <p:spPr>
          <a:xfrm>
            <a:off x="713232" y="4828031"/>
            <a:ext cx="5212080" cy="402336"/>
          </a:xfrm>
          <a:prstGeom prst="rect">
            <a:avLst/>
          </a:prstGeom>
          <a:noFill/>
        </p:spPr>
        <p:txBody>
          <a:bodyPr wrap="square">
            <a:spAutoFit/>
          </a:bodyPr>
          <a:lstStyle/>
          <a:p>
            <a:pPr algn="l"/>
            <a:r>
              <a:rPr sz="1400" b="0" i="0">
                <a:solidFill>
                  <a:srgbClr val="00D0A3"/>
                </a:solidFill>
                <a:latin typeface="DM Sans"/>
              </a:rPr>
              <a:t>  ✓  415 tests, all passing</a:t>
            </a:r>
          </a:p>
        </p:txBody>
      </p:sp>
      <p:sp>
        <p:nvSpPr>
          <p:cNvPr id="13" name="Rectangle 12"/>
          <p:cNvSpPr/>
          <p:nvPr/>
        </p:nvSpPr>
        <p:spPr>
          <a:xfrm>
            <a:off x="6400800" y="2212848"/>
            <a:ext cx="45720" cy="3291840"/>
          </a:xfrm>
          <a:prstGeom prst="rect">
            <a:avLst/>
          </a:prstGeom>
          <a:solidFill>
            <a:srgbClr val="FF9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65392" y="2212848"/>
            <a:ext cx="5029200" cy="365760"/>
          </a:xfrm>
          <a:prstGeom prst="rect">
            <a:avLst/>
          </a:prstGeom>
          <a:noFill/>
        </p:spPr>
        <p:txBody>
          <a:bodyPr wrap="square">
            <a:spAutoFit/>
          </a:bodyPr>
          <a:lstStyle/>
          <a:p>
            <a:pPr algn="l"/>
            <a:r>
              <a:rPr sz="1300" b="1" i="0">
                <a:solidFill>
                  <a:srgbClr val="FF949A"/>
                </a:solidFill>
                <a:latin typeface="Space Mono"/>
              </a:rPr>
              <a:t>🔜  Planned</a:t>
            </a:r>
          </a:p>
        </p:txBody>
      </p:sp>
      <p:sp>
        <p:nvSpPr>
          <p:cNvPr id="15" name="TextBox 14"/>
          <p:cNvSpPr txBox="1"/>
          <p:nvPr/>
        </p:nvSpPr>
        <p:spPr>
          <a:xfrm>
            <a:off x="6565392" y="2633472"/>
            <a:ext cx="5303520" cy="402336"/>
          </a:xfrm>
          <a:prstGeom prst="rect">
            <a:avLst/>
          </a:prstGeom>
          <a:noFill/>
        </p:spPr>
        <p:txBody>
          <a:bodyPr wrap="square">
            <a:spAutoFit/>
          </a:bodyPr>
          <a:lstStyle/>
          <a:p>
            <a:pPr algn="l"/>
            <a:r>
              <a:rPr sz="1400" b="0" i="0">
                <a:solidFill>
                  <a:srgbClr val="FF949A"/>
                </a:solidFill>
                <a:latin typeface="DM Sans"/>
              </a:rPr>
              <a:t>  ○  v1.0 API freeze + deprecation policy</a:t>
            </a:r>
          </a:p>
        </p:txBody>
      </p:sp>
      <p:sp>
        <p:nvSpPr>
          <p:cNvPr id="16" name="TextBox 15"/>
          <p:cNvSpPr txBox="1"/>
          <p:nvPr/>
        </p:nvSpPr>
        <p:spPr>
          <a:xfrm>
            <a:off x="6565392" y="3072384"/>
            <a:ext cx="5303520" cy="402336"/>
          </a:xfrm>
          <a:prstGeom prst="rect">
            <a:avLst/>
          </a:prstGeom>
          <a:noFill/>
        </p:spPr>
        <p:txBody>
          <a:bodyPr wrap="square">
            <a:spAutoFit/>
          </a:bodyPr>
          <a:lstStyle/>
          <a:p>
            <a:pPr algn="l"/>
            <a:r>
              <a:rPr sz="1400" b="0" i="0">
                <a:solidFill>
                  <a:srgbClr val="FF949A"/>
                </a:solidFill>
                <a:latin typeface="DM Sans"/>
              </a:rPr>
              <a:t>  ○  CSV streaming reader — multi-GB files</a:t>
            </a:r>
          </a:p>
        </p:txBody>
      </p:sp>
      <p:sp>
        <p:nvSpPr>
          <p:cNvPr id="17" name="TextBox 16"/>
          <p:cNvSpPr txBox="1"/>
          <p:nvPr/>
        </p:nvSpPr>
        <p:spPr>
          <a:xfrm>
            <a:off x="6565392" y="3511296"/>
            <a:ext cx="5303520" cy="402336"/>
          </a:xfrm>
          <a:prstGeom prst="rect">
            <a:avLst/>
          </a:prstGeom>
          <a:noFill/>
        </p:spPr>
        <p:txBody>
          <a:bodyPr wrap="square">
            <a:spAutoFit/>
          </a:bodyPr>
          <a:lstStyle/>
          <a:p>
            <a:pPr algn="l"/>
            <a:r>
              <a:rPr sz="1400" b="0" i="0">
                <a:solidFill>
                  <a:srgbClr val="FF949A"/>
                </a:solidFill>
                <a:latin typeface="DM Sans"/>
              </a:rPr>
              <a:t>  ○  Parquet I/O — S3, BigQuery, Spark exports</a:t>
            </a:r>
          </a:p>
        </p:txBody>
      </p:sp>
      <p:sp>
        <p:nvSpPr>
          <p:cNvPr id="18" name="TextBox 17"/>
          <p:cNvSpPr txBox="1"/>
          <p:nvPr/>
        </p:nvSpPr>
        <p:spPr>
          <a:xfrm>
            <a:off x="6565392" y="3950208"/>
            <a:ext cx="5303520" cy="402336"/>
          </a:xfrm>
          <a:prstGeom prst="rect">
            <a:avLst/>
          </a:prstGeom>
          <a:noFill/>
        </p:spPr>
        <p:txBody>
          <a:bodyPr wrap="square">
            <a:spAutoFit/>
          </a:bodyPr>
          <a:lstStyle/>
          <a:p>
            <a:pPr algn="l"/>
            <a:r>
              <a:rPr sz="1400" b="0" i="0">
                <a:solidFill>
                  <a:srgbClr val="FF949A"/>
                </a:solidFill>
                <a:latin typeface="DM Sans"/>
              </a:rPr>
              <a:t>  ○  Daemon persistence — survive restarts</a:t>
            </a:r>
          </a:p>
        </p:txBody>
      </p:sp>
      <p:sp>
        <p:nvSpPr>
          <p:cNvPr id="19" name="TextBox 18"/>
          <p:cNvSpPr txBox="1"/>
          <p:nvPr/>
        </p:nvSpPr>
        <p:spPr>
          <a:xfrm>
            <a:off x="6565392" y="4389120"/>
            <a:ext cx="5303520" cy="402336"/>
          </a:xfrm>
          <a:prstGeom prst="rect">
            <a:avLst/>
          </a:prstGeom>
          <a:noFill/>
        </p:spPr>
        <p:txBody>
          <a:bodyPr wrap="square">
            <a:spAutoFit/>
          </a:bodyPr>
          <a:lstStyle/>
          <a:p>
            <a:pPr algn="l"/>
            <a:r>
              <a:rPr sz="1400" b="0" i="0">
                <a:solidFill>
                  <a:srgbClr val="FF949A"/>
                </a:solidFill>
                <a:latin typeface="DM Sans"/>
              </a:rPr>
              <a:t>  ○  Golden-file correctness suite vs pandas</a:t>
            </a:r>
          </a:p>
        </p:txBody>
      </p:sp>
      <p:sp>
        <p:nvSpPr>
          <p:cNvPr id="20" name="TextBox 19"/>
          <p:cNvSpPr txBox="1"/>
          <p:nvPr/>
        </p:nvSpPr>
        <p:spPr>
          <a:xfrm>
            <a:off x="6565392" y="4828031"/>
            <a:ext cx="5303520" cy="402336"/>
          </a:xfrm>
          <a:prstGeom prst="rect">
            <a:avLst/>
          </a:prstGeom>
          <a:noFill/>
        </p:spPr>
        <p:txBody>
          <a:bodyPr wrap="square">
            <a:spAutoFit/>
          </a:bodyPr>
          <a:lstStyle/>
          <a:p>
            <a:pPr algn="l"/>
            <a:r>
              <a:rPr sz="1400" b="0" i="0">
                <a:solidFill>
                  <a:srgbClr val="FF949A"/>
                </a:solidFill>
                <a:latin typeface="DM Sans"/>
              </a:rPr>
              <a:t>  ○  Metal benchmarks vs Polars on Apple Silicon</a:t>
            </a:r>
          </a:p>
        </p:txBody>
      </p:sp>
      <p:sp>
        <p:nvSpPr>
          <p:cNvPr id="21" name="Rectangle 20"/>
          <p:cNvSpPr/>
          <p:nvPr/>
        </p:nvSpPr>
        <p:spPr>
          <a:xfrm>
            <a:off x="548640" y="5669280"/>
            <a:ext cx="11091672" cy="10972"/>
          </a:xfrm>
          <a:prstGeom prst="rect">
            <a:avLst/>
          </a:prstGeom>
          <a:solidFill>
            <a:srgbClr val="282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779008"/>
            <a:ext cx="11091672" cy="457200"/>
          </a:xfrm>
          <a:prstGeom prst="rect">
            <a:avLst/>
          </a:prstGeom>
          <a:noFill/>
        </p:spPr>
        <p:txBody>
          <a:bodyPr wrap="square">
            <a:spAutoFit/>
          </a:bodyPr>
          <a:lstStyle/>
          <a:p>
            <a:pPr algn="ctr"/>
            <a:r>
              <a:rPr sz="1900" b="1" i="0">
                <a:solidFill>
                  <a:srgbClr val="FFFFFF"/>
                </a:solidFill>
                <a:latin typeface="Manrope"/>
              </a:rPr>
              <a:t>The roadmap is public and honest — no vaporware.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457200"/>
            <a:ext cx="1005840" cy="438912"/>
          </a:xfrm>
          <a:prstGeom prst="rect">
            <a:avLst/>
          </a:prstGeom>
          <a:noFill/>
        </p:spPr>
        <p:txBody>
          <a:bodyPr wrap="square">
            <a:spAutoFit/>
          </a:bodyPr>
          <a:lstStyle/>
          <a:p>
            <a:pPr algn="l"/>
            <a:r>
              <a:rPr sz="2000" b="0" i="0">
                <a:solidFill>
                  <a:srgbClr val="00D0A3"/>
                </a:solidFill>
                <a:latin typeface="Space Mono"/>
              </a:rPr>
              <a:t>12</a:t>
            </a:r>
          </a:p>
        </p:txBody>
      </p:sp>
      <p:sp>
        <p:nvSpPr>
          <p:cNvPr id="3" name="TextBox 2"/>
          <p:cNvSpPr txBox="1"/>
          <p:nvPr/>
        </p:nvSpPr>
        <p:spPr>
          <a:xfrm>
            <a:off x="548640" y="457200"/>
            <a:ext cx="11091672" cy="594360"/>
          </a:xfrm>
          <a:prstGeom prst="rect">
            <a:avLst/>
          </a:prstGeom>
          <a:noFill/>
        </p:spPr>
        <p:txBody>
          <a:bodyPr wrap="square">
            <a:spAutoFit/>
          </a:bodyPr>
          <a:lstStyle/>
          <a:p>
            <a:pPr algn="l"/>
            <a:r>
              <a:rPr sz="2600" b="0" i="0">
                <a:solidFill>
                  <a:srgbClr val="BBBBC8"/>
                </a:solidFill>
                <a:latin typeface="Manrope"/>
              </a:rPr>
              <a:t>The critical advantage:</a:t>
            </a:r>
          </a:p>
        </p:txBody>
      </p:sp>
      <p:sp>
        <p:nvSpPr>
          <p:cNvPr id="4" name="TextBox 3"/>
          <p:cNvSpPr txBox="1"/>
          <p:nvPr/>
        </p:nvSpPr>
        <p:spPr>
          <a:xfrm>
            <a:off x="548640" y="987552"/>
            <a:ext cx="11091672" cy="914400"/>
          </a:xfrm>
          <a:prstGeom prst="rect">
            <a:avLst/>
          </a:prstGeom>
          <a:noFill/>
        </p:spPr>
        <p:txBody>
          <a:bodyPr wrap="square">
            <a:spAutoFit/>
          </a:bodyPr>
          <a:lstStyle/>
          <a:p>
            <a:pPr algn="l"/>
            <a:r>
              <a:rPr sz="4800" b="1" i="0">
                <a:solidFill>
                  <a:srgbClr val="FFFFFF"/>
                </a:solidFill>
                <a:latin typeface="Manrope"/>
              </a:rPr>
              <a:t>We own the hardware it runs on.</a:t>
            </a:r>
          </a:p>
        </p:txBody>
      </p:sp>
      <p:sp>
        <p:nvSpPr>
          <p:cNvPr id="5" name="Rectangle 4"/>
          <p:cNvSpPr/>
          <p:nvPr/>
        </p:nvSpPr>
        <p:spPr>
          <a:xfrm>
            <a:off x="548640" y="1993392"/>
            <a:ext cx="11091672" cy="10972"/>
          </a:xfrm>
          <a:prstGeom prst="rect">
            <a:avLst/>
          </a:prstGeom>
          <a:solidFill>
            <a:srgbClr val="282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084831"/>
            <a:ext cx="11091672" cy="1325880"/>
          </a:xfrm>
          <a:prstGeom prst="rect">
            <a:avLst/>
          </a:prstGeom>
          <a:solidFill>
            <a:srgbClr val="100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084831"/>
            <a:ext cx="73152" cy="1325880"/>
          </a:xfrm>
          <a:prstGeom prst="rect">
            <a:avLst/>
          </a:prstGeom>
          <a:solidFill>
            <a:srgbClr val="FDF9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0744200" cy="1188720"/>
          </a:xfrm>
          <a:prstGeom prst="rect">
            <a:avLst/>
          </a:prstGeom>
          <a:noFill/>
        </p:spPr>
        <p:txBody>
          <a:bodyPr wrap="square">
            <a:spAutoFit/>
          </a:bodyPr>
          <a:lstStyle/>
          <a:p>
            <a:pPr algn="l"/>
            <a:r>
              <a:rPr sz="2000" b="0" i="1">
                <a:solidFill>
                  <a:srgbClr val="FDF909"/>
                </a:solidFill>
                <a:latin typeface="Manrope"/>
              </a:rPr>
              <a:t>Software is commoditised. Models are commoditised.
The company that controls the compute — the hardware, the memory bus, the GPU — controls the margin.</a:t>
            </a:r>
          </a:p>
        </p:txBody>
      </p:sp>
      <p:sp>
        <p:nvSpPr>
          <p:cNvPr id="9" name="TextBox 8"/>
          <p:cNvSpPr txBox="1"/>
          <p:nvPr/>
        </p:nvSpPr>
        <p:spPr>
          <a:xfrm>
            <a:off x="1691640" y="3566160"/>
            <a:ext cx="9692640" cy="402336"/>
          </a:xfrm>
          <a:prstGeom prst="rect">
            <a:avLst/>
          </a:prstGeom>
          <a:noFill/>
        </p:spPr>
        <p:txBody>
          <a:bodyPr wrap="square">
            <a:spAutoFit/>
          </a:bodyPr>
          <a:lstStyle/>
          <a:p>
            <a:pPr algn="l"/>
            <a:r>
              <a:rPr sz="1600" b="0" i="0">
                <a:solidFill>
                  <a:srgbClr val="BBBBC8"/>
                </a:solidFill>
                <a:latin typeface="DM Sans"/>
              </a:rPr>
              <a:t>—  Apple Silicon is in 100 M+ active devices — the hardware is already deployed</a:t>
            </a:r>
          </a:p>
        </p:txBody>
      </p:sp>
      <p:sp>
        <p:nvSpPr>
          <p:cNvPr id="10" name="TextBox 9"/>
          <p:cNvSpPr txBox="1"/>
          <p:nvPr/>
        </p:nvSpPr>
        <p:spPr>
          <a:xfrm>
            <a:off x="1691640" y="3995928"/>
            <a:ext cx="9692640" cy="402336"/>
          </a:xfrm>
          <a:prstGeom prst="rect">
            <a:avLst/>
          </a:prstGeom>
          <a:noFill/>
        </p:spPr>
        <p:txBody>
          <a:bodyPr wrap="square">
            <a:spAutoFit/>
          </a:bodyPr>
          <a:lstStyle/>
          <a:p>
            <a:pPr algn="l"/>
            <a:r>
              <a:rPr sz="1600" b="0" i="0">
                <a:solidFill>
                  <a:srgbClr val="BBBBC8"/>
                </a:solidFill>
                <a:latin typeface="DM Sans"/>
              </a:rPr>
              <a:t>—  Unified memory is not available on any cloud GPU instance</a:t>
            </a:r>
          </a:p>
        </p:txBody>
      </p:sp>
      <p:sp>
        <p:nvSpPr>
          <p:cNvPr id="11" name="TextBox 10"/>
          <p:cNvSpPr txBox="1"/>
          <p:nvPr/>
        </p:nvSpPr>
        <p:spPr>
          <a:xfrm>
            <a:off x="1691640" y="4425696"/>
            <a:ext cx="9692640" cy="402336"/>
          </a:xfrm>
          <a:prstGeom prst="rect">
            <a:avLst/>
          </a:prstGeom>
          <a:noFill/>
        </p:spPr>
        <p:txBody>
          <a:bodyPr wrap="square">
            <a:spAutoFit/>
          </a:bodyPr>
          <a:lstStyle/>
          <a:p>
            <a:pPr algn="l"/>
            <a:r>
              <a:rPr sz="1600" b="0" i="0">
                <a:solidFill>
                  <a:srgbClr val="BBBBC8"/>
                </a:solidFill>
                <a:latin typeface="DM Sans"/>
              </a:rPr>
              <a:t>—  Metal compute is not accessible from Python's pandas — at all</a:t>
            </a:r>
          </a:p>
        </p:txBody>
      </p:sp>
      <p:sp>
        <p:nvSpPr>
          <p:cNvPr id="12" name="TextBox 11"/>
          <p:cNvSpPr txBox="1"/>
          <p:nvPr/>
        </p:nvSpPr>
        <p:spPr>
          <a:xfrm>
            <a:off x="1691640" y="4855464"/>
            <a:ext cx="9692640" cy="402336"/>
          </a:xfrm>
          <a:prstGeom prst="rect">
            <a:avLst/>
          </a:prstGeom>
          <a:noFill/>
        </p:spPr>
        <p:txBody>
          <a:bodyPr wrap="square">
            <a:spAutoFit/>
          </a:bodyPr>
          <a:lstStyle/>
          <a:p>
            <a:pPr algn="l"/>
            <a:r>
              <a:rPr sz="1600" b="1" i="0">
                <a:solidFill>
                  <a:srgbClr val="FF949A"/>
                </a:solidFill>
                <a:latin typeface="DM Sans"/>
              </a:rPr>
              <a:t>  When you own the hardware, you set the performance floor</a:t>
            </a:r>
          </a:p>
        </p:txBody>
      </p:sp>
      <p:sp>
        <p:nvSpPr>
          <p:cNvPr id="13" name="Rectangle 12"/>
          <p:cNvSpPr/>
          <p:nvPr/>
        </p:nvSpPr>
        <p:spPr>
          <a:xfrm>
            <a:off x="548640" y="5760720"/>
            <a:ext cx="11091672" cy="10972"/>
          </a:xfrm>
          <a:prstGeom prst="rect">
            <a:avLst/>
          </a:prstGeom>
          <a:solidFill>
            <a:srgbClr val="282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5870448"/>
            <a:ext cx="11091672" cy="457200"/>
          </a:xfrm>
          <a:prstGeom prst="rect">
            <a:avLst/>
          </a:prstGeom>
          <a:noFill/>
        </p:spPr>
        <p:txBody>
          <a:bodyPr wrap="square">
            <a:spAutoFit/>
          </a:bodyPr>
          <a:lstStyle/>
          <a:p>
            <a:pPr algn="ctr"/>
            <a:r>
              <a:rPr sz="1900" b="1" i="0">
                <a:solidFill>
                  <a:srgbClr val="FF949A"/>
                </a:solidFill>
                <a:latin typeface="Manrope"/>
              </a:rPr>
              <a:t>Local analytics — your data, your machine, your control.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457200"/>
            <a:ext cx="1005840" cy="438912"/>
          </a:xfrm>
          <a:prstGeom prst="rect">
            <a:avLst/>
          </a:prstGeom>
          <a:noFill/>
        </p:spPr>
        <p:txBody>
          <a:bodyPr wrap="square">
            <a:spAutoFit/>
          </a:bodyPr>
          <a:lstStyle/>
          <a:p>
            <a:pPr algn="l"/>
            <a:r>
              <a:rPr sz="2000" b="0" i="0">
                <a:solidFill>
                  <a:srgbClr val="00D0A3"/>
                </a:solidFill>
                <a:latin typeface="Space Mono"/>
              </a:rPr>
              <a:t>13</a:t>
            </a:r>
          </a:p>
        </p:txBody>
      </p:sp>
      <p:sp>
        <p:nvSpPr>
          <p:cNvPr id="3" name="TextBox 2"/>
          <p:cNvSpPr txBox="1"/>
          <p:nvPr/>
        </p:nvSpPr>
        <p:spPr>
          <a:xfrm>
            <a:off x="1691640" y="329184"/>
            <a:ext cx="10058400" cy="1234440"/>
          </a:xfrm>
          <a:prstGeom prst="rect">
            <a:avLst/>
          </a:prstGeom>
          <a:noFill/>
        </p:spPr>
        <p:txBody>
          <a:bodyPr wrap="square">
            <a:spAutoFit/>
          </a:bodyPr>
          <a:lstStyle/>
          <a:p>
            <a:pPr algn="l"/>
            <a:r>
              <a:rPr sz="3400" b="0" i="0">
                <a:solidFill>
                  <a:srgbClr val="FFFFFF"/>
                </a:solidFill>
                <a:latin typeface="Manrope"/>
              </a:rPr>
              <a:t>The future is fast. It runs on Apple silicon. And it's open source.</a:t>
            </a:r>
          </a:p>
        </p:txBody>
      </p:sp>
      <p:sp>
        <p:nvSpPr>
          <p:cNvPr id="4" name="TextBox 3"/>
          <p:cNvSpPr txBox="1"/>
          <p:nvPr/>
        </p:nvSpPr>
        <p:spPr>
          <a:xfrm>
            <a:off x="1691640" y="1536192"/>
            <a:ext cx="9692640" cy="566928"/>
          </a:xfrm>
          <a:prstGeom prst="rect">
            <a:avLst/>
          </a:prstGeom>
          <a:noFill/>
        </p:spPr>
        <p:txBody>
          <a:bodyPr wrap="square">
            <a:spAutoFit/>
          </a:bodyPr>
          <a:lstStyle/>
          <a:p>
            <a:pPr algn="l"/>
            <a:r>
              <a:rPr sz="1900" b="0" i="0">
                <a:solidFill>
                  <a:srgbClr val="FF949A"/>
                </a:solidFill>
                <a:latin typeface="Manrope"/>
              </a:rPr>
              <a:t>Local-first · GPU-native · open source · Apple-first.</a:t>
            </a:r>
          </a:p>
        </p:txBody>
      </p:sp>
      <p:sp>
        <p:nvSpPr>
          <p:cNvPr id="5" name="TextBox 4"/>
          <p:cNvSpPr txBox="1"/>
          <p:nvPr/>
        </p:nvSpPr>
        <p:spPr>
          <a:xfrm>
            <a:off x="1691640" y="2331720"/>
            <a:ext cx="9692640" cy="402336"/>
          </a:xfrm>
          <a:prstGeom prst="rect">
            <a:avLst/>
          </a:prstGeom>
          <a:noFill/>
        </p:spPr>
        <p:txBody>
          <a:bodyPr wrap="square">
            <a:spAutoFit/>
          </a:bodyPr>
          <a:lstStyle/>
          <a:p>
            <a:pPr algn="l"/>
            <a:r>
              <a:rPr sz="1600" b="1" i="0">
                <a:solidFill>
                  <a:srgbClr val="FF949A"/>
                </a:solidFill>
                <a:latin typeface="DM Sans"/>
              </a:rPr>
              <a:t>  Local-first analytics — your data, your machine, your control</a:t>
            </a:r>
          </a:p>
        </p:txBody>
      </p:sp>
      <p:sp>
        <p:nvSpPr>
          <p:cNvPr id="6" name="TextBox 5"/>
          <p:cNvSpPr txBox="1"/>
          <p:nvPr/>
        </p:nvSpPr>
        <p:spPr>
          <a:xfrm>
            <a:off x="1691640" y="2761488"/>
            <a:ext cx="9692640" cy="402336"/>
          </a:xfrm>
          <a:prstGeom prst="rect">
            <a:avLst/>
          </a:prstGeom>
          <a:noFill/>
        </p:spPr>
        <p:txBody>
          <a:bodyPr wrap="square">
            <a:spAutoFit/>
          </a:bodyPr>
          <a:lstStyle/>
          <a:p>
            <a:pPr algn="l"/>
            <a:r>
              <a:rPr sz="1600" b="1" i="0">
                <a:solidFill>
                  <a:srgbClr val="FF949A"/>
                </a:solidFill>
                <a:latin typeface="DM Sans"/>
              </a:rPr>
              <a:t>  GPU-native from day one — not bolted on after the fact</a:t>
            </a:r>
          </a:p>
        </p:txBody>
      </p:sp>
      <p:sp>
        <p:nvSpPr>
          <p:cNvPr id="7" name="TextBox 6"/>
          <p:cNvSpPr txBox="1"/>
          <p:nvPr/>
        </p:nvSpPr>
        <p:spPr>
          <a:xfrm>
            <a:off x="1691640" y="3191256"/>
            <a:ext cx="9692640" cy="402336"/>
          </a:xfrm>
          <a:prstGeom prst="rect">
            <a:avLst/>
          </a:prstGeom>
          <a:noFill/>
        </p:spPr>
        <p:txBody>
          <a:bodyPr wrap="square">
            <a:spAutoFit/>
          </a:bodyPr>
          <a:lstStyle/>
          <a:p>
            <a:pPr algn="l"/>
            <a:r>
              <a:rPr sz="1600" b="1" i="0">
                <a:solidFill>
                  <a:srgbClr val="FF949A"/>
                </a:solidFill>
                <a:latin typeface="DM Sans"/>
              </a:rPr>
              <a:t>  Open source — the community owns it</a:t>
            </a:r>
          </a:p>
        </p:txBody>
      </p:sp>
      <p:sp>
        <p:nvSpPr>
          <p:cNvPr id="8" name="TextBox 7"/>
          <p:cNvSpPr txBox="1"/>
          <p:nvPr/>
        </p:nvSpPr>
        <p:spPr>
          <a:xfrm>
            <a:off x="1691640" y="3621024"/>
            <a:ext cx="9692640" cy="402336"/>
          </a:xfrm>
          <a:prstGeom prst="rect">
            <a:avLst/>
          </a:prstGeom>
          <a:noFill/>
        </p:spPr>
        <p:txBody>
          <a:bodyPr wrap="square">
            <a:spAutoFit/>
          </a:bodyPr>
          <a:lstStyle/>
          <a:p>
            <a:pPr algn="l"/>
            <a:r>
              <a:rPr sz="1600" b="0" i="0">
                <a:solidFill>
                  <a:srgbClr val="BBBBC8"/>
                </a:solidFill>
                <a:latin typeface="DM Sans"/>
              </a:rPr>
              <a:t>—  Apple-first — built for hardware 100 M+ professionals already own</a:t>
            </a:r>
          </a:p>
        </p:txBody>
      </p:sp>
      <p:sp>
        <p:nvSpPr>
          <p:cNvPr id="9" name="TextBox 8"/>
          <p:cNvSpPr txBox="1"/>
          <p:nvPr/>
        </p:nvSpPr>
        <p:spPr>
          <a:xfrm>
            <a:off x="1691640" y="4050792"/>
            <a:ext cx="9692640" cy="402336"/>
          </a:xfrm>
          <a:prstGeom prst="rect">
            <a:avLst/>
          </a:prstGeom>
          <a:noFill/>
        </p:spPr>
        <p:txBody>
          <a:bodyPr wrap="square">
            <a:spAutoFit/>
          </a:bodyPr>
          <a:lstStyle/>
          <a:p>
            <a:pPr algn="l"/>
            <a:r>
              <a:rPr sz="1600" b="0" i="0">
                <a:solidFill>
                  <a:srgbClr val="BBBBC8"/>
                </a:solidFill>
                <a:latin typeface="DM Sans"/>
              </a:rPr>
              <a:t>—  Fast enough that the tool disappears and the thinking takes over</a:t>
            </a:r>
          </a:p>
        </p:txBody>
      </p:sp>
      <p:sp>
        <p:nvSpPr>
          <p:cNvPr id="10" name="Rectangle 9"/>
          <p:cNvSpPr/>
          <p:nvPr/>
        </p:nvSpPr>
        <p:spPr>
          <a:xfrm>
            <a:off x="548640" y="4919472"/>
            <a:ext cx="11091672" cy="10972"/>
          </a:xfrm>
          <a:prstGeom prst="rect">
            <a:avLst/>
          </a:prstGeom>
          <a:solidFill>
            <a:srgbClr val="282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5029200"/>
            <a:ext cx="11091672" cy="594360"/>
          </a:xfrm>
          <a:prstGeom prst="rect">
            <a:avLst/>
          </a:prstGeom>
          <a:noFill/>
        </p:spPr>
        <p:txBody>
          <a:bodyPr wrap="square">
            <a:spAutoFit/>
          </a:bodyPr>
          <a:lstStyle/>
          <a:p>
            <a:pPr algn="ctr"/>
            <a:r>
              <a:rPr sz="2400" b="0" i="1">
                <a:solidFill>
                  <a:srgbClr val="FF949A"/>
                </a:solidFill>
                <a:latin typeface="Manrope"/>
              </a:rPr>
              <a:t>The best tool is the one that gets out of your way.</a:t>
            </a:r>
          </a:p>
        </p:txBody>
      </p:sp>
      <p:sp>
        <p:nvSpPr>
          <p:cNvPr id="12" name="TextBox 11"/>
          <p:cNvSpPr txBox="1"/>
          <p:nvPr/>
        </p:nvSpPr>
        <p:spPr>
          <a:xfrm>
            <a:off x="548640" y="5577840"/>
            <a:ext cx="11091672" cy="502920"/>
          </a:xfrm>
          <a:prstGeom prst="rect">
            <a:avLst/>
          </a:prstGeom>
          <a:noFill/>
        </p:spPr>
        <p:txBody>
          <a:bodyPr wrap="square">
            <a:spAutoFit/>
          </a:bodyPr>
          <a:lstStyle/>
          <a:p>
            <a:pPr algn="ctr"/>
            <a:r>
              <a:rPr sz="1600" b="0" i="0">
                <a:solidFill>
                  <a:srgbClr val="BBBBC8"/>
                </a:solidFill>
                <a:latin typeface="DM Sans"/>
              </a:rPr>
              <a:t>When a GroupBy takes 1 ms instead of 6, you stop thinking about the tool and start thinking about the problem.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DE6DE"/>
        </a:solidFill>
        <a:effectLst/>
      </p:bgPr>
    </p:bg>
    <p:spTree>
      <p:nvGrpSpPr>
        <p:cNvPr id="1" name=""/>
        <p:cNvGrpSpPr/>
        <p:nvPr/>
      </p:nvGrpSpPr>
      <p:grpSpPr/>
      <p:sp>
        <p:nvSpPr>
          <p:cNvPr id="2" name="TextBox 1"/>
          <p:cNvSpPr txBox="1"/>
          <p:nvPr/>
        </p:nvSpPr>
        <p:spPr>
          <a:xfrm>
            <a:off x="548640" y="457200"/>
            <a:ext cx="8229600" cy="2560320"/>
          </a:xfrm>
          <a:prstGeom prst="rect">
            <a:avLst/>
          </a:prstGeom>
          <a:noFill/>
        </p:spPr>
        <p:txBody>
          <a:bodyPr wrap="square">
            <a:spAutoFit/>
          </a:bodyPr>
          <a:lstStyle/>
          <a:p>
            <a:pPr algn="l"/>
            <a:r>
              <a:rPr sz="14800" b="1" i="0">
                <a:solidFill>
                  <a:srgbClr val="0D0D14"/>
                </a:solidFill>
                <a:latin typeface="Manrope"/>
              </a:rPr>
              <a:t>kiraa.</a:t>
            </a:r>
          </a:p>
        </p:txBody>
      </p:sp>
      <p:sp>
        <p:nvSpPr>
          <p:cNvPr id="3" name="Rectangle 2"/>
          <p:cNvSpPr/>
          <p:nvPr/>
        </p:nvSpPr>
        <p:spPr>
          <a:xfrm>
            <a:off x="548640" y="3200400"/>
            <a:ext cx="11091672" cy="10972"/>
          </a:xfrm>
          <a:prstGeom prst="rect">
            <a:avLst/>
          </a:prstGeom>
          <a:solidFill>
            <a:srgbClr val="4A4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310128"/>
            <a:ext cx="8229600" cy="685800"/>
          </a:xfrm>
          <a:prstGeom prst="rect">
            <a:avLst/>
          </a:prstGeom>
          <a:noFill/>
        </p:spPr>
        <p:txBody>
          <a:bodyPr wrap="square">
            <a:spAutoFit/>
          </a:bodyPr>
          <a:lstStyle/>
          <a:p>
            <a:pPr algn="l"/>
            <a:r>
              <a:rPr sz="2800" b="0" i="0">
                <a:solidFill>
                  <a:srgbClr val="0D0D14"/>
                </a:solidFill>
                <a:latin typeface="Manrope"/>
              </a:rPr>
              <a:t>Ready to meet kiraa?</a:t>
            </a:r>
          </a:p>
        </p:txBody>
      </p:sp>
      <p:sp>
        <p:nvSpPr>
          <p:cNvPr id="5" name="Rectangle 4"/>
          <p:cNvSpPr/>
          <p:nvPr/>
        </p:nvSpPr>
        <p:spPr>
          <a:xfrm>
            <a:off x="548640" y="4187952"/>
            <a:ext cx="274320" cy="10972"/>
          </a:xfrm>
          <a:prstGeom prst="rect">
            <a:avLst/>
          </a:prstGeom>
          <a:solidFill>
            <a:srgbClr val="9A9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114800"/>
            <a:ext cx="10058400" cy="347472"/>
          </a:xfrm>
          <a:prstGeom prst="rect">
            <a:avLst/>
          </a:prstGeom>
          <a:noFill/>
        </p:spPr>
        <p:txBody>
          <a:bodyPr wrap="square">
            <a:spAutoFit/>
          </a:bodyPr>
          <a:lstStyle/>
          <a:p>
            <a:pPr algn="l"/>
            <a:r>
              <a:rPr sz="1300" b="1" i="0">
                <a:solidFill>
                  <a:srgbClr val="0D0D14"/>
                </a:solidFill>
                <a:latin typeface="Space Mono"/>
              </a:rPr>
              <a:t>github.com/kiraa-ai/kiraa-swift-pandas</a:t>
            </a:r>
          </a:p>
        </p:txBody>
      </p:sp>
      <p:sp>
        <p:nvSpPr>
          <p:cNvPr id="7" name="TextBox 6"/>
          <p:cNvSpPr txBox="1"/>
          <p:nvPr/>
        </p:nvSpPr>
        <p:spPr>
          <a:xfrm>
            <a:off x="1005840" y="4425696"/>
            <a:ext cx="10058400" cy="274320"/>
          </a:xfrm>
          <a:prstGeom prst="rect">
            <a:avLst/>
          </a:prstGeom>
          <a:noFill/>
        </p:spPr>
        <p:txBody>
          <a:bodyPr wrap="square">
            <a:spAutoFit/>
          </a:bodyPr>
          <a:lstStyle/>
          <a:p>
            <a:pPr algn="l"/>
            <a:r>
              <a:rPr sz="1200" b="0" i="0">
                <a:solidFill>
                  <a:srgbClr val="5A5450"/>
                </a:solidFill>
                <a:latin typeface="DM Sans"/>
              </a:rPr>
              <a:t>Star the repo · file issues · contribute</a:t>
            </a:r>
          </a:p>
        </p:txBody>
      </p:sp>
      <p:sp>
        <p:nvSpPr>
          <p:cNvPr id="8" name="Rectangle 7"/>
          <p:cNvSpPr/>
          <p:nvPr/>
        </p:nvSpPr>
        <p:spPr>
          <a:xfrm>
            <a:off x="548640" y="4773168"/>
            <a:ext cx="274320" cy="10972"/>
          </a:xfrm>
          <a:prstGeom prst="rect">
            <a:avLst/>
          </a:prstGeom>
          <a:solidFill>
            <a:srgbClr val="9A9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700016"/>
            <a:ext cx="10058400" cy="347472"/>
          </a:xfrm>
          <a:prstGeom prst="rect">
            <a:avLst/>
          </a:prstGeom>
          <a:noFill/>
        </p:spPr>
        <p:txBody>
          <a:bodyPr wrap="square">
            <a:spAutoFit/>
          </a:bodyPr>
          <a:lstStyle/>
          <a:p>
            <a:pPr algn="l"/>
            <a:r>
              <a:rPr sz="1300" b="1" i="0">
                <a:solidFill>
                  <a:srgbClr val="0D0D14"/>
                </a:solidFill>
                <a:latin typeface="Space Mono"/>
              </a:rPr>
              <a:t>brew install kiraa-ai/tap/swiftpandas</a:t>
            </a:r>
          </a:p>
        </p:txBody>
      </p:sp>
      <p:sp>
        <p:nvSpPr>
          <p:cNvPr id="10" name="TextBox 9"/>
          <p:cNvSpPr txBox="1"/>
          <p:nvPr/>
        </p:nvSpPr>
        <p:spPr>
          <a:xfrm>
            <a:off x="1005840" y="5010912"/>
            <a:ext cx="10058400" cy="274320"/>
          </a:xfrm>
          <a:prstGeom prst="rect">
            <a:avLst/>
          </a:prstGeom>
          <a:noFill/>
        </p:spPr>
        <p:txBody>
          <a:bodyPr wrap="square">
            <a:spAutoFit/>
          </a:bodyPr>
          <a:lstStyle/>
          <a:p>
            <a:pPr algn="l"/>
            <a:r>
              <a:rPr sz="1200" b="0" i="0">
                <a:solidFill>
                  <a:srgbClr val="5A5450"/>
                </a:solidFill>
                <a:latin typeface="DM Sans"/>
              </a:rPr>
              <a:t>Try it today on your Mac</a:t>
            </a:r>
          </a:p>
        </p:txBody>
      </p:sp>
      <p:sp>
        <p:nvSpPr>
          <p:cNvPr id="11" name="Rectangle 10"/>
          <p:cNvSpPr/>
          <p:nvPr/>
        </p:nvSpPr>
        <p:spPr>
          <a:xfrm>
            <a:off x="548640" y="5358384"/>
            <a:ext cx="274320" cy="10972"/>
          </a:xfrm>
          <a:prstGeom prst="rect">
            <a:avLst/>
          </a:prstGeom>
          <a:solidFill>
            <a:srgbClr val="9A9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285232"/>
            <a:ext cx="10058400" cy="347472"/>
          </a:xfrm>
          <a:prstGeom prst="rect">
            <a:avLst/>
          </a:prstGeom>
          <a:noFill/>
        </p:spPr>
        <p:txBody>
          <a:bodyPr wrap="square">
            <a:spAutoFit/>
          </a:bodyPr>
          <a:lstStyle/>
          <a:p>
            <a:pPr algn="l"/>
            <a:r>
              <a:rPr sz="1300" b="1" i="0">
                <a:solidFill>
                  <a:srgbClr val="0D0D14"/>
                </a:solidFill>
                <a:latin typeface="Space Mono"/>
              </a:rPr>
              <a:t>Deep-dive video: SwiftPandas architecture + benchmarks</a:t>
            </a:r>
          </a:p>
        </p:txBody>
      </p:sp>
      <p:sp>
        <p:nvSpPr>
          <p:cNvPr id="13" name="TextBox 12"/>
          <p:cNvSpPr txBox="1"/>
          <p:nvPr/>
        </p:nvSpPr>
        <p:spPr>
          <a:xfrm>
            <a:off x="1005840" y="5596128"/>
            <a:ext cx="10058400" cy="274320"/>
          </a:xfrm>
          <a:prstGeom prst="rect">
            <a:avLst/>
          </a:prstGeom>
          <a:noFill/>
        </p:spPr>
        <p:txBody>
          <a:bodyPr wrap="square">
            <a:spAutoFit/>
          </a:bodyPr>
          <a:lstStyle/>
          <a:p>
            <a:pPr algn="l"/>
            <a:r>
              <a:rPr sz="1200" b="0" i="0">
                <a:solidFill>
                  <a:srgbClr val="5A5450"/>
                </a:solidFill>
                <a:latin typeface="DM Sans"/>
              </a:rPr>
              <a:t>Coming shortly</a:t>
            </a:r>
          </a:p>
        </p:txBody>
      </p:sp>
      <p:sp>
        <p:nvSpPr>
          <p:cNvPr id="14" name="Rectangle 13"/>
          <p:cNvSpPr/>
          <p:nvPr/>
        </p:nvSpPr>
        <p:spPr>
          <a:xfrm>
            <a:off x="548640" y="6327648"/>
            <a:ext cx="11091672" cy="10972"/>
          </a:xfrm>
          <a:prstGeom prst="rect">
            <a:avLst/>
          </a:prstGeom>
          <a:solidFill>
            <a:srgbClr val="9A9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419088"/>
            <a:ext cx="11091672" cy="347472"/>
          </a:xfrm>
          <a:prstGeom prst="rect">
            <a:avLst/>
          </a:prstGeom>
          <a:noFill/>
        </p:spPr>
        <p:txBody>
          <a:bodyPr wrap="square">
            <a:spAutoFit/>
          </a:bodyPr>
          <a:lstStyle/>
          <a:p>
            <a:pPr algn="l"/>
            <a:r>
              <a:rPr sz="1100" b="0" i="0">
                <a:solidFill>
                  <a:srgbClr val="6A6460"/>
                </a:solidFill>
                <a:latin typeface="Space Mono"/>
              </a:rPr>
              <a:t>Built by Errol Brandt &amp; Markos Abdallah  ·  Kiraa AI  ·  kiraa.ai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