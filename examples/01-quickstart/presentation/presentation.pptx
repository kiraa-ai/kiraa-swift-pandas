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 Every pandas script you've ever run paid a toll before it read a single row: boot the interpreter, import pandas — half a second, sometimes more, gone every time. We've all just accepted it. In the next five minutes I'm going to show you a data engine where that toll is zero, and why that changes where you're willing to put analytics.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[0:30–1:15] Here's the thing about that half-second. If you run analysis once a day, who cares. But the moment you want analytics *inside* something — a git hook that checks a data file, a build step, a job that fires per request — that startup cost is now the whole story. You're paying it thousands of times. So people just... don't. They keep the fast, sharp tool out of the fast, sharp places. SwiftPandas is a compiled binary. There is nothing to boot.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[1:15–1:45] Let me show you a real job — not a toy. Read a sales file, compute profit, group by region, aggregate, rank. Five stages. Watch the clock at the bottom of the screen when I run it. *[switch to terminal, run ./run.sh]*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[1:45–2:45] Everything just happened. The number you saw wasn't 'time to run the pipeline' — it was time for the entire process to be born, parse the file, do five stages of real work, write the output, and die. There's no server sitting in the background now. If I run it again, I pay the same tiny cost again, because the tiny cost is the *whole* cost. This is what 'own the hardware' feels like at the command 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[2:45–3:45] So what does zero startup actually buy you? It buys you *placement*. You can drop this into a pre-commit hook and every commit checks your data without anyone noticing the cost. You can make it a build target. You can fan it out across hundreds of files in a shell loop. All the places where 'just use pandas' quietly meant 'accept a half-second tax per invocation' — those are open 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[3:45–4:30] One command, no tax — that's the foundation. In the next demo I'll show you the other half: when you *do* want to keep data hot and ask it a hundred questions in a row, there's a session mode for that too. Same grammar, same speed, just resident. But it all starts here: the fast tool finally gets to live in the fast places.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2971800"/>
            <a:ext cx="822960"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2011680"/>
          </a:xfrm>
          <a:prstGeom prst="rect">
            <a:avLst/>
          </a:prstGeom>
          <a:noFill/>
        </p:spPr>
        <p:txBody>
          <a:bodyPr wrap="square" anchor="t">
            <a:spAutoFit/>
          </a:bodyPr>
          <a:lstStyle/>
          <a:p>
            <a:r>
              <a:rPr sz="4600" b="1">
                <a:solidFill>
                  <a:srgbClr val="E2E8F0"/>
                </a:solidFill>
                <a:latin typeface="Helvetica Neue"/>
              </a:rPr>
              <a:t>Startup Is Not a Tax</a:t>
            </a:r>
          </a:p>
        </p:txBody>
      </p:sp>
      <p:sp>
        <p:nvSpPr>
          <p:cNvPr id="4" name="TextBox 3"/>
          <p:cNvSpPr txBox="1"/>
          <p:nvPr/>
        </p:nvSpPr>
        <p:spPr>
          <a:xfrm>
            <a:off x="841248" y="3657600"/>
            <a:ext cx="10241280" cy="1463040"/>
          </a:xfrm>
          <a:prstGeom prst="rect">
            <a:avLst/>
          </a:prstGeom>
          <a:noFill/>
        </p:spPr>
        <p:txBody>
          <a:bodyPr wrap="square" anchor="t">
            <a:spAutoFit/>
          </a:bodyPr>
          <a:lstStyle/>
          <a:p>
            <a:r>
              <a:rPr sz="2000" b="0">
                <a:solidFill>
                  <a:srgbClr val="94A3B8"/>
                </a:solidFill>
                <a:latin typeface="Helvetica Neue"/>
              </a:rPr>
              <a:t>A whole analytics job that starts, runs, and exits before pandas finishes import</a:t>
            </a:r>
          </a:p>
        </p:txBody>
      </p:sp>
      <p:sp>
        <p:nvSpPr>
          <p:cNvPr id="5" name="TextBox 4"/>
          <p:cNvSpPr txBox="1"/>
          <p:nvPr/>
        </p:nvSpPr>
        <p:spPr>
          <a:xfrm>
            <a:off x="841248" y="6035040"/>
            <a:ext cx="10241280" cy="548640"/>
          </a:xfrm>
          <a:prstGeom prst="rect">
            <a:avLst/>
          </a:prstGeom>
          <a:noFill/>
        </p:spPr>
        <p:txBody>
          <a:bodyPr wrap="square" anchor="t">
            <a:spAutoFit/>
          </a:bodyPr>
          <a:lstStyle/>
          <a:p>
            <a:r>
              <a:rPr sz="1200" b="0">
                <a:solidFill>
                  <a:srgbClr val="22D3EE"/>
                </a:solidFill>
                <a:latin typeface="Helvetica Neue"/>
              </a:rPr>
              <a:t>5-Minute Demo Presentation — Demo 1: Quickstart   ·   *5-Minute Demo Presentation — Demo 1: Quickstart*</a:t>
            </a:r>
          </a:p>
        </p:txBody>
      </p:sp>
      <p:sp>
        <p:nvSpPr>
          <p:cNvPr id="6" name="TextBox 5"/>
          <p:cNvSpPr txBox="1"/>
          <p:nvPr/>
        </p:nvSpPr>
        <p:spPr>
          <a:xfrm>
            <a:off x="11155680" y="137160"/>
            <a:ext cx="914400" cy="365760"/>
          </a:xfrm>
          <a:prstGeom prst="rect">
            <a:avLst/>
          </a:prstGeom>
          <a:noFill/>
        </p:spPr>
        <p:txBody>
          <a:bodyPr wrap="square" anchor="t">
            <a:spAutoFit/>
          </a:bodyPr>
          <a:lstStyle/>
          <a:p>
            <a:pPr algn="r"/>
            <a:r>
              <a:rPr sz="1000" b="0">
                <a:solidFill>
                  <a:srgbClr val="94A3B8"/>
                </a:solidFill>
                <a:latin typeface="Helvetica Neue"/>
              </a:rPr>
              <a:t>01/06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822960" y="1234440"/>
            <a:ext cx="502920" cy="640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nchor="t">
            <a:spAutoFit/>
          </a:bodyPr>
          <a:lstStyle/>
          <a:p>
            <a:r>
              <a:rPr sz="3000" b="1">
                <a:solidFill>
                  <a:srgbClr val="E2E8F0"/>
                </a:solidFill>
                <a:latin typeface="Helvetica Neue"/>
              </a:rPr>
              <a:t>The Half-Second You Pay Every Single Time</a:t>
            </a:r>
          </a:p>
        </p:txBody>
      </p:sp>
      <p:sp>
        <p:nvSpPr>
          <p:cNvPr id="4" name="TextBox 3"/>
          <p:cNvSpPr txBox="1"/>
          <p:nvPr/>
        </p:nvSpPr>
        <p:spPr>
          <a:xfrm>
            <a:off x="822960" y="182880"/>
            <a:ext cx="10515600" cy="365760"/>
          </a:xfrm>
          <a:prstGeom prst="rect">
            <a:avLst/>
          </a:prstGeom>
          <a:noFill/>
        </p:spPr>
        <p:txBody>
          <a:bodyPr wrap="square" anchor="t">
            <a:spAutoFit/>
          </a:bodyPr>
          <a:lstStyle/>
          <a:p>
            <a:r>
              <a:rPr sz="1100" b="1">
                <a:solidFill>
                  <a:srgbClr val="22D3EE"/>
                </a:solidFill>
                <a:latin typeface="Helvetica Neue"/>
              </a:rPr>
              <a:t>SLIDE 2 — THE HIDDEN COST</a:t>
            </a:r>
          </a:p>
        </p:txBody>
      </p:sp>
      <p:sp>
        <p:nvSpPr>
          <p:cNvPr id="5" name="TextBox 4"/>
          <p:cNvSpPr txBox="1"/>
          <p:nvPr/>
        </p:nvSpPr>
        <p:spPr>
          <a:xfrm>
            <a:off x="822960" y="1554480"/>
            <a:ext cx="10424160" cy="4023360"/>
          </a:xfrm>
          <a:prstGeom prst="rect">
            <a:avLst/>
          </a:prstGeom>
          <a:noFill/>
        </p:spPr>
        <p:txBody>
          <a:bodyPr wrap="square" anchor="t">
            <a:spAutoFit/>
          </a:bodyPr>
          <a:lstStyle/>
          <a:p>
            <a:pPr>
              <a:spcAft>
                <a:spcPts val="1000"/>
              </a:spcAft>
            </a:pPr>
            <a:r>
              <a:rPr sz="1800" b="1">
                <a:solidFill>
                  <a:srgbClr val="22D3EE"/>
                </a:solidFill>
                <a:latin typeface="Helvetica Neue"/>
              </a:rPr>
              <a:t>▸  </a:t>
            </a:r>
            <a:r>
              <a:rPr sz="1800" b="0">
                <a:solidFill>
                  <a:srgbClr val="E2E8F0"/>
                </a:solidFill>
                <a:latin typeface="Menlo"/>
              </a:rPr>
              <a:t>python -c "import pandas"</a:t>
            </a:r>
            <a:r>
              <a:rPr sz="1800" b="0">
                <a:solidFill>
                  <a:srgbClr val="E2E8F0"/>
                </a:solidFill>
                <a:latin typeface="Helvetica Neue"/>
              </a:rPr>
              <a:t> — typically </a:t>
            </a:r>
            <a:r>
              <a:rPr sz="1800" b="1">
                <a:solidFill>
                  <a:srgbClr val="E2E8F0"/>
                </a:solidFill>
                <a:latin typeface="Helvetica Neue"/>
              </a:rPr>
              <a:t>0.5–0.8s</a:t>
            </a:r>
            <a:r>
              <a:rPr sz="1800" b="0">
                <a:solidFill>
                  <a:srgbClr val="E2E8F0"/>
                </a:solidFill>
                <a:latin typeface="Helvetica Neue"/>
              </a:rPr>
              <a:t> before line one of *your* code</a:t>
            </a:r>
          </a:p>
          <a:p>
            <a:pPr>
              <a:spcAft>
                <a:spcPts val="1000"/>
              </a:spcAft>
            </a:pPr>
            <a:r>
              <a:rPr sz="1800" b="1">
                <a:solidFill>
                  <a:srgbClr val="22D3EE"/>
                </a:solidFill>
                <a:latin typeface="Helvetica Neue"/>
              </a:rPr>
              <a:t>▸  </a:t>
            </a:r>
            <a:r>
              <a:rPr sz="1800" b="0">
                <a:solidFill>
                  <a:srgbClr val="E2E8F0"/>
                </a:solidFill>
                <a:latin typeface="Helvetica Neue"/>
              </a:rPr>
              <a:t>Fine for a notebook you open once</a:t>
            </a:r>
          </a:p>
          <a:p>
            <a:pPr>
              <a:spcAft>
                <a:spcPts val="1000"/>
              </a:spcAft>
            </a:pPr>
            <a:r>
              <a:rPr sz="1800" b="1">
                <a:solidFill>
                  <a:srgbClr val="22D3EE"/>
                </a:solidFill>
                <a:latin typeface="Helvetica Neue"/>
              </a:rPr>
              <a:t>▸  </a:t>
            </a:r>
            <a:r>
              <a:rPr sz="1800" b="0">
                <a:solidFill>
                  <a:srgbClr val="E2E8F0"/>
                </a:solidFill>
                <a:latin typeface="Helvetica Neue"/>
              </a:rPr>
              <a:t>Deadly for anything you run *often*: pre-commit hooks, </a:t>
            </a:r>
            <a:r>
              <a:rPr sz="1800" b="0">
                <a:solidFill>
                  <a:srgbClr val="E2E8F0"/>
                </a:solidFill>
                <a:latin typeface="Menlo"/>
              </a:rPr>
              <a:t>make</a:t>
            </a:r>
            <a:r>
              <a:rPr sz="1800" b="0">
                <a:solidFill>
                  <a:srgbClr val="E2E8F0"/>
                </a:solidFill>
                <a:latin typeface="Helvetica Neue"/>
              </a:rPr>
              <a:t> targets, cron jobs, per-request batch</a:t>
            </a:r>
          </a:p>
          <a:p>
            <a:pPr>
              <a:spcAft>
                <a:spcPts val="1000"/>
              </a:spcAft>
            </a:pPr>
            <a:r>
              <a:rPr sz="1800" b="1">
                <a:solidFill>
                  <a:srgbClr val="22D3EE"/>
                </a:solidFill>
                <a:latin typeface="Helvetica Neue"/>
              </a:rPr>
              <a:t>▸  </a:t>
            </a:r>
            <a:r>
              <a:rPr sz="1800" b="0">
                <a:solidFill>
                  <a:srgbClr val="E2E8F0"/>
                </a:solidFill>
                <a:latin typeface="Helvetica Neue"/>
              </a:rPr>
              <a:t>So teams avoid using their best tool in exactly those places</a:t>
            </a:r>
          </a:p>
        </p:txBody>
      </p:sp>
      <p:sp>
        <p:nvSpPr>
          <p:cNvPr id="6" name="TextBox 5"/>
          <p:cNvSpPr txBox="1"/>
          <p:nvPr/>
        </p:nvSpPr>
        <p:spPr>
          <a:xfrm>
            <a:off x="822960" y="5989320"/>
            <a:ext cx="8686800" cy="640080"/>
          </a:xfrm>
          <a:prstGeom prst="rect">
            <a:avLst/>
          </a:prstGeom>
          <a:noFill/>
        </p:spPr>
        <p:txBody>
          <a:bodyPr wrap="square" anchor="t">
            <a:spAutoFit/>
          </a:bodyPr>
          <a:lstStyle/>
          <a:p>
            <a:r>
              <a:rPr sz="1100" b="0">
                <a:solidFill>
                  <a:srgbClr val="94A3B8"/>
                </a:solidFill>
                <a:latin typeface="Helvetica Neue"/>
              </a:rPr>
              <a:t>▨ A bar: "pandas cold start" (long red) vs "actual work" (tiny). The tax dwarfs the task.</a:t>
            </a:r>
          </a:p>
        </p:txBody>
      </p:sp>
      <p:sp>
        <p:nvSpPr>
          <p:cNvPr id="7" name="TextBox 6"/>
          <p:cNvSpPr txBox="1"/>
          <p:nvPr/>
        </p:nvSpPr>
        <p:spPr>
          <a:xfrm>
            <a:off x="10058400" y="5989320"/>
            <a:ext cx="1737360" cy="457200"/>
          </a:xfrm>
          <a:prstGeom prst="rect">
            <a:avLst/>
          </a:prstGeom>
          <a:noFill/>
        </p:spPr>
        <p:txBody>
          <a:bodyPr wrap="square" anchor="t">
            <a:spAutoFit/>
          </a:bodyPr>
          <a:lstStyle/>
          <a:p>
            <a:pPr algn="r"/>
            <a:r>
              <a:rPr sz="1100" b="0">
                <a:solidFill>
                  <a:srgbClr val="22D3EE"/>
                </a:solidFill>
                <a:latin typeface="Helvetica Neue"/>
              </a:rPr>
              <a:t>0:30–1:15</a:t>
            </a:r>
          </a:p>
        </p:txBody>
      </p:sp>
      <p:sp>
        <p:nvSpPr>
          <p:cNvPr id="8" name="TextBox 7"/>
          <p:cNvSpPr txBox="1"/>
          <p:nvPr/>
        </p:nvSpPr>
        <p:spPr>
          <a:xfrm>
            <a:off x="11155680" y="137160"/>
            <a:ext cx="914400" cy="365760"/>
          </a:xfrm>
          <a:prstGeom prst="rect">
            <a:avLst/>
          </a:prstGeom>
          <a:noFill/>
        </p:spPr>
        <p:txBody>
          <a:bodyPr wrap="square" anchor="t">
            <a:spAutoFit/>
          </a:bodyPr>
          <a:lstStyle/>
          <a:p>
            <a:pPr algn="r"/>
            <a:r>
              <a:rPr sz="1000" b="0">
                <a:solidFill>
                  <a:srgbClr val="94A3B8"/>
                </a:solidFill>
                <a:latin typeface="Helvetica Neue"/>
              </a:rPr>
              <a:t>02/06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822960" y="1234440"/>
            <a:ext cx="502920" cy="640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nchor="t">
            <a:spAutoFit/>
          </a:bodyPr>
          <a:lstStyle/>
          <a:p>
            <a:r>
              <a:rPr sz="3000" b="1">
                <a:solidFill>
                  <a:srgbClr val="E2E8F0"/>
                </a:solidFill>
                <a:latin typeface="Helvetica Neue"/>
              </a:rPr>
              <a:t>One Command: CSV In, Report Out</a:t>
            </a:r>
          </a:p>
        </p:txBody>
      </p:sp>
      <p:sp>
        <p:nvSpPr>
          <p:cNvPr id="4" name="TextBox 3"/>
          <p:cNvSpPr txBox="1"/>
          <p:nvPr/>
        </p:nvSpPr>
        <p:spPr>
          <a:xfrm>
            <a:off x="822960" y="182880"/>
            <a:ext cx="10515600" cy="365760"/>
          </a:xfrm>
          <a:prstGeom prst="rect">
            <a:avLst/>
          </a:prstGeom>
          <a:noFill/>
        </p:spPr>
        <p:txBody>
          <a:bodyPr wrap="square" anchor="t">
            <a:spAutoFit/>
          </a:bodyPr>
          <a:lstStyle/>
          <a:p>
            <a:r>
              <a:rPr sz="1100" b="1">
                <a:solidFill>
                  <a:srgbClr val="22D3EE"/>
                </a:solidFill>
                <a:latin typeface="Helvetica Neue"/>
              </a:rPr>
              <a:t>SLIDE 3 — THE DEMO</a:t>
            </a:r>
          </a:p>
        </p:txBody>
      </p:sp>
      <p:sp>
        <p:nvSpPr>
          <p:cNvPr id="5" name="TextBox 4"/>
          <p:cNvSpPr txBox="1"/>
          <p:nvPr/>
        </p:nvSpPr>
        <p:spPr>
          <a:xfrm>
            <a:off x="822960" y="1554480"/>
            <a:ext cx="5852160" cy="4023360"/>
          </a:xfrm>
          <a:prstGeom prst="rect">
            <a:avLst/>
          </a:prstGeom>
          <a:noFill/>
        </p:spPr>
        <p:txBody>
          <a:bodyPr wrap="square" anchor="t">
            <a:spAutoFit/>
          </a:bodyPr>
          <a:lstStyle/>
          <a:p>
            <a:pPr>
              <a:spcAft>
                <a:spcPts val="1000"/>
              </a:spcAft>
            </a:pPr>
            <a:r>
              <a:rPr sz="1800" b="1">
                <a:solidFill>
                  <a:srgbClr val="22D3EE"/>
                </a:solidFill>
                <a:latin typeface="Helvetica Neue"/>
              </a:rPr>
              <a:t>▸  </a:t>
            </a:r>
            <a:r>
              <a:rPr sz="1800" b="0">
                <a:solidFill>
                  <a:srgbClr val="E2E8F0"/>
                </a:solidFill>
                <a:latin typeface="Helvetica Neue"/>
              </a:rPr>
              <a:t>2,000-row sales dataset</a:t>
            </a:r>
          </a:p>
          <a:p>
            <a:pPr>
              <a:spcAft>
                <a:spcPts val="1000"/>
              </a:spcAft>
            </a:pPr>
            <a:r>
              <a:rPr sz="1800" b="1">
                <a:solidFill>
                  <a:srgbClr val="22D3EE"/>
                </a:solidFill>
                <a:latin typeface="Helvetica Neue"/>
              </a:rPr>
              <a:t>▸  </a:t>
            </a:r>
            <a:r>
              <a:rPr sz="1800" b="0">
                <a:solidFill>
                  <a:srgbClr val="E2E8F0"/>
                </a:solidFill>
                <a:latin typeface="Helvetica Neue"/>
              </a:rPr>
              <a:t>One pipeline: </a:t>
            </a:r>
            <a:r>
              <a:rPr sz="1800" b="0">
                <a:solidFill>
                  <a:srgbClr val="E2E8F0"/>
                </a:solidFill>
                <a:latin typeface="Menlo"/>
              </a:rPr>
              <a:t>derive → groupby → agg → sort → round</a:t>
            </a:r>
          </a:p>
          <a:p>
            <a:pPr>
              <a:spcAft>
                <a:spcPts val="1000"/>
              </a:spcAft>
            </a:pPr>
            <a:r>
              <a:rPr sz="1800" b="1">
                <a:solidFill>
                  <a:srgbClr val="22D3EE"/>
                </a:solidFill>
                <a:latin typeface="Helvetica Neue"/>
              </a:rPr>
              <a:t>▸  </a:t>
            </a:r>
            <a:r>
              <a:rPr sz="1800" b="0">
                <a:solidFill>
                  <a:srgbClr val="E2E8F0"/>
                </a:solidFill>
                <a:latin typeface="Helvetica Neue"/>
              </a:rPr>
              <a:t>Profit per region, ranked</a:t>
            </a:r>
          </a:p>
        </p:txBody>
      </p:sp>
      <p:sp>
        <p:nvSpPr>
          <p:cNvPr id="6" name="Rectangle 5"/>
          <p:cNvSpPr/>
          <p:nvPr/>
        </p:nvSpPr>
        <p:spPr>
          <a:xfrm>
            <a:off x="6858000" y="1554480"/>
            <a:ext cx="4480560" cy="2377440"/>
          </a:xfrm>
          <a:prstGeom prst="rect">
            <a:avLst/>
          </a:prstGeom>
          <a:solidFill>
            <a:srgbClr val="111827"/>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r>
              <a:rPr sz="1100" b="0">
                <a:solidFill>
                  <a:srgbClr val="E5E7EB"/>
                </a:solidFill>
                <a:latin typeface="Menlo"/>
              </a:rPr>
              <a:t>swiftpandas run -i sales.csv -o by_region.csv \</a:t>
            </a:r>
          </a:p>
          <a:p>
            <a:r>
              <a:rPr sz="1100" b="0">
                <a:solidFill>
                  <a:srgbClr val="E5E7EB"/>
                </a:solidFill>
                <a:latin typeface="Menlo"/>
              </a:rPr>
              <a:t>  -c "derive(profit = revenue - cost) | groupby(region) \</a:t>
            </a:r>
          </a:p>
          <a:p>
            <a:r>
              <a:rPr sz="1100" b="0">
                <a:solidFill>
                  <a:srgbClr val="E5E7EB"/>
                </a:solidFill>
                <a:latin typeface="Menlo"/>
              </a:rPr>
              <a:t>      | agg(sum:profit, mean:units) | sort(profit, desc) | round(units, 1)"</a:t>
            </a:r>
          </a:p>
        </p:txBody>
      </p:sp>
      <p:sp>
        <p:nvSpPr>
          <p:cNvPr id="7" name="TextBox 6"/>
          <p:cNvSpPr txBox="1"/>
          <p:nvPr/>
        </p:nvSpPr>
        <p:spPr>
          <a:xfrm>
            <a:off x="822960" y="5989320"/>
            <a:ext cx="8686800" cy="640080"/>
          </a:xfrm>
          <a:prstGeom prst="rect">
            <a:avLst/>
          </a:prstGeom>
          <a:noFill/>
        </p:spPr>
        <p:txBody>
          <a:bodyPr wrap="square" anchor="t">
            <a:spAutoFit/>
          </a:bodyPr>
          <a:lstStyle/>
          <a:p>
            <a:r>
              <a:rPr sz="1100" b="0">
                <a:solidFill>
                  <a:srgbClr val="94A3B8"/>
                </a:solidFill>
                <a:latin typeface="Helvetica Neue"/>
              </a:rPr>
              <a:t>▨ The pipeline as a horizontal flow of five labelled boxes.</a:t>
            </a:r>
          </a:p>
        </p:txBody>
      </p:sp>
      <p:sp>
        <p:nvSpPr>
          <p:cNvPr id="8" name="TextBox 7"/>
          <p:cNvSpPr txBox="1"/>
          <p:nvPr/>
        </p:nvSpPr>
        <p:spPr>
          <a:xfrm>
            <a:off x="10058400" y="5989320"/>
            <a:ext cx="1737360" cy="457200"/>
          </a:xfrm>
          <a:prstGeom prst="rect">
            <a:avLst/>
          </a:prstGeom>
          <a:noFill/>
        </p:spPr>
        <p:txBody>
          <a:bodyPr wrap="square" anchor="t">
            <a:spAutoFit/>
          </a:bodyPr>
          <a:lstStyle/>
          <a:p>
            <a:pPr algn="r"/>
            <a:r>
              <a:rPr sz="1100" b="0">
                <a:solidFill>
                  <a:srgbClr val="22D3EE"/>
                </a:solidFill>
                <a:latin typeface="Helvetica Neue"/>
              </a:rPr>
              <a:t>1:15–1:45</a:t>
            </a:r>
          </a:p>
        </p:txBody>
      </p:sp>
      <p:sp>
        <p:nvSpPr>
          <p:cNvPr id="9" name="TextBox 8"/>
          <p:cNvSpPr txBox="1"/>
          <p:nvPr/>
        </p:nvSpPr>
        <p:spPr>
          <a:xfrm>
            <a:off x="11155680" y="137160"/>
            <a:ext cx="914400" cy="365760"/>
          </a:xfrm>
          <a:prstGeom prst="rect">
            <a:avLst/>
          </a:prstGeom>
          <a:noFill/>
        </p:spPr>
        <p:txBody>
          <a:bodyPr wrap="square" anchor="t">
            <a:spAutoFit/>
          </a:bodyPr>
          <a:lstStyle/>
          <a:p>
            <a:pPr algn="r"/>
            <a:r>
              <a:rPr sz="1000" b="0">
                <a:solidFill>
                  <a:srgbClr val="94A3B8"/>
                </a:solidFill>
                <a:latin typeface="Helvetica Neue"/>
              </a:rPr>
              <a:t>03/06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822960" y="1234440"/>
            <a:ext cx="502920" cy="640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nchor="t">
            <a:spAutoFit/>
          </a:bodyPr>
          <a:lstStyle/>
          <a:p>
            <a:r>
              <a:rPr sz="3000" b="1">
                <a:solidFill>
                  <a:srgbClr val="E2E8F0"/>
                </a:solidFill>
                <a:latin typeface="Helvetica Neue"/>
              </a:rPr>
              <a:t>The Whole Job Was the Number at the Bottom</a:t>
            </a:r>
          </a:p>
        </p:txBody>
      </p:sp>
      <p:sp>
        <p:nvSpPr>
          <p:cNvPr id="4" name="TextBox 3"/>
          <p:cNvSpPr txBox="1"/>
          <p:nvPr/>
        </p:nvSpPr>
        <p:spPr>
          <a:xfrm>
            <a:off x="822960" y="182880"/>
            <a:ext cx="10515600" cy="365760"/>
          </a:xfrm>
          <a:prstGeom prst="rect">
            <a:avLst/>
          </a:prstGeom>
          <a:noFill/>
        </p:spPr>
        <p:txBody>
          <a:bodyPr wrap="square" anchor="t">
            <a:spAutoFit/>
          </a:bodyPr>
          <a:lstStyle/>
          <a:p>
            <a:r>
              <a:rPr sz="1100" b="1">
                <a:solidFill>
                  <a:srgbClr val="22D3EE"/>
                </a:solidFill>
                <a:latin typeface="Helvetica Neue"/>
              </a:rPr>
              <a:t>SLIDE 4 — WHAT YOU JUST SAW</a:t>
            </a:r>
          </a:p>
        </p:txBody>
      </p:sp>
      <p:sp>
        <p:nvSpPr>
          <p:cNvPr id="5" name="TextBox 4"/>
          <p:cNvSpPr txBox="1"/>
          <p:nvPr/>
        </p:nvSpPr>
        <p:spPr>
          <a:xfrm>
            <a:off x="822960" y="1554480"/>
            <a:ext cx="10424160" cy="4023360"/>
          </a:xfrm>
          <a:prstGeom prst="rect">
            <a:avLst/>
          </a:prstGeom>
          <a:noFill/>
        </p:spPr>
        <p:txBody>
          <a:bodyPr wrap="square" anchor="t">
            <a:spAutoFit/>
          </a:bodyPr>
          <a:lstStyle/>
          <a:p>
            <a:pPr>
              <a:spcAft>
                <a:spcPts val="1000"/>
              </a:spcAft>
            </a:pPr>
            <a:r>
              <a:rPr sz="1800" b="1">
                <a:solidFill>
                  <a:srgbClr val="22D3EE"/>
                </a:solidFill>
                <a:latin typeface="Helvetica Neue"/>
              </a:rPr>
              <a:t>▸  </a:t>
            </a:r>
            <a:r>
              <a:rPr sz="1800" b="0">
                <a:solidFill>
                  <a:srgbClr val="E2E8F0"/>
                </a:solidFill>
                <a:latin typeface="Helvetica Neue"/>
              </a:rPr>
              <a:t>Process start </a:t>
            </a:r>
            <a:r>
              <a:rPr sz="1800" b="1">
                <a:solidFill>
                  <a:srgbClr val="E2E8F0"/>
                </a:solidFill>
                <a:latin typeface="Helvetica Neue"/>
              </a:rPr>
              <a:t>+</a:t>
            </a:r>
            <a:r>
              <a:rPr sz="1800" b="0">
                <a:solidFill>
                  <a:srgbClr val="E2E8F0"/>
                </a:solidFill>
                <a:latin typeface="Helvetica Neue"/>
              </a:rPr>
              <a:t> CSV parse </a:t>
            </a:r>
            <a:r>
              <a:rPr sz="1800" b="1">
                <a:solidFill>
                  <a:srgbClr val="E2E8F0"/>
                </a:solidFill>
                <a:latin typeface="Helvetica Neue"/>
              </a:rPr>
              <a:t>+</a:t>
            </a:r>
            <a:r>
              <a:rPr sz="1800" b="0">
                <a:solidFill>
                  <a:srgbClr val="E2E8F0"/>
                </a:solidFill>
                <a:latin typeface="Helvetica Neue"/>
              </a:rPr>
              <a:t> 5-stage pipeline </a:t>
            </a:r>
            <a:r>
              <a:rPr sz="1800" b="1">
                <a:solidFill>
                  <a:srgbClr val="E2E8F0"/>
                </a:solidFill>
                <a:latin typeface="Helvetica Neue"/>
              </a:rPr>
              <a:t>+</a:t>
            </a:r>
            <a:r>
              <a:rPr sz="1800" b="0">
                <a:solidFill>
                  <a:srgbClr val="E2E8F0"/>
                </a:solidFill>
                <a:latin typeface="Helvetica Neue"/>
              </a:rPr>
              <a:t> CSV write </a:t>
            </a:r>
            <a:r>
              <a:rPr sz="1800" b="1">
                <a:solidFill>
                  <a:srgbClr val="E2E8F0"/>
                </a:solidFill>
                <a:latin typeface="Helvetica Neue"/>
              </a:rPr>
              <a:t>+</a:t>
            </a:r>
            <a:r>
              <a:rPr sz="1800" b="0">
                <a:solidFill>
                  <a:srgbClr val="E2E8F0"/>
                </a:solidFill>
                <a:latin typeface="Helvetica Neue"/>
              </a:rPr>
              <a:t> process exit</a:t>
            </a:r>
          </a:p>
          <a:p>
            <a:pPr>
              <a:spcAft>
                <a:spcPts val="1000"/>
              </a:spcAft>
            </a:pPr>
            <a:r>
              <a:rPr sz="1800" b="1">
                <a:solidFill>
                  <a:srgbClr val="22D3EE"/>
                </a:solidFill>
                <a:latin typeface="Helvetica Neue"/>
              </a:rPr>
              <a:t>▸  </a:t>
            </a:r>
            <a:r>
              <a:rPr sz="1800" b="0">
                <a:solidFill>
                  <a:srgbClr val="E2E8F0"/>
                </a:solidFill>
                <a:latin typeface="Helvetica Neue"/>
              </a:rPr>
              <a:t>All of it — tens of milliseconds</a:t>
            </a:r>
          </a:p>
          <a:p>
            <a:pPr>
              <a:spcAft>
                <a:spcPts val="1000"/>
              </a:spcAft>
            </a:pPr>
            <a:r>
              <a:rPr sz="1800" b="1">
                <a:solidFill>
                  <a:srgbClr val="22D3EE"/>
                </a:solidFill>
                <a:latin typeface="Helvetica Neue"/>
              </a:rPr>
              <a:t>▸  </a:t>
            </a:r>
            <a:r>
              <a:rPr sz="1800" b="0">
                <a:solidFill>
                  <a:srgbClr val="E2E8F0"/>
                </a:solidFill>
                <a:latin typeface="Helvetica Neue"/>
              </a:rPr>
              <a:t>No daemon left running. No kernel to keep warm. Nothing imported.</a:t>
            </a:r>
          </a:p>
        </p:txBody>
      </p:sp>
      <p:sp>
        <p:nvSpPr>
          <p:cNvPr id="6" name="TextBox 5"/>
          <p:cNvSpPr txBox="1"/>
          <p:nvPr/>
        </p:nvSpPr>
        <p:spPr>
          <a:xfrm>
            <a:off x="822960" y="5989320"/>
            <a:ext cx="8686800" cy="640080"/>
          </a:xfrm>
          <a:prstGeom prst="rect">
            <a:avLst/>
          </a:prstGeom>
          <a:noFill/>
        </p:spPr>
        <p:txBody>
          <a:bodyPr wrap="square" anchor="t">
            <a:spAutoFit/>
          </a:bodyPr>
          <a:lstStyle/>
          <a:p>
            <a:r>
              <a:rPr sz="1100" b="0">
                <a:solidFill>
                  <a:srgbClr val="94A3B8"/>
                </a:solidFill>
                <a:latin typeface="Helvetica Neue"/>
              </a:rPr>
              <a:t>▨ The same bar from Slide 2, now inverted — work fills it, startup is a sliver.</a:t>
            </a:r>
          </a:p>
        </p:txBody>
      </p:sp>
      <p:sp>
        <p:nvSpPr>
          <p:cNvPr id="7" name="TextBox 6"/>
          <p:cNvSpPr txBox="1"/>
          <p:nvPr/>
        </p:nvSpPr>
        <p:spPr>
          <a:xfrm>
            <a:off x="10058400" y="5989320"/>
            <a:ext cx="1737360" cy="457200"/>
          </a:xfrm>
          <a:prstGeom prst="rect">
            <a:avLst/>
          </a:prstGeom>
          <a:noFill/>
        </p:spPr>
        <p:txBody>
          <a:bodyPr wrap="square" anchor="t">
            <a:spAutoFit/>
          </a:bodyPr>
          <a:lstStyle/>
          <a:p>
            <a:pPr algn="r"/>
            <a:r>
              <a:rPr sz="1100" b="0">
                <a:solidFill>
                  <a:srgbClr val="22D3EE"/>
                </a:solidFill>
                <a:latin typeface="Helvetica Neue"/>
              </a:rPr>
              <a:t>1:45–2:45</a:t>
            </a:r>
          </a:p>
        </p:txBody>
      </p:sp>
      <p:sp>
        <p:nvSpPr>
          <p:cNvPr id="8" name="TextBox 7"/>
          <p:cNvSpPr txBox="1"/>
          <p:nvPr/>
        </p:nvSpPr>
        <p:spPr>
          <a:xfrm>
            <a:off x="11155680" y="137160"/>
            <a:ext cx="914400" cy="365760"/>
          </a:xfrm>
          <a:prstGeom prst="rect">
            <a:avLst/>
          </a:prstGeom>
          <a:noFill/>
        </p:spPr>
        <p:txBody>
          <a:bodyPr wrap="square" anchor="t">
            <a:spAutoFit/>
          </a:bodyPr>
          <a:lstStyle/>
          <a:p>
            <a:pPr algn="r"/>
            <a:r>
              <a:rPr sz="1000" b="0">
                <a:solidFill>
                  <a:srgbClr val="94A3B8"/>
                </a:solidFill>
                <a:latin typeface="Helvetica Neue"/>
              </a:rPr>
              <a:t>04/06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822960" y="1234440"/>
            <a:ext cx="502920" cy="640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nchor="t">
            <a:spAutoFit/>
          </a:bodyPr>
          <a:lstStyle/>
          <a:p>
            <a:r>
              <a:rPr sz="3000" b="1">
                <a:solidFill>
                  <a:srgbClr val="E2E8F0"/>
                </a:solidFill>
                <a:latin typeface="Helvetica Neue"/>
              </a:rPr>
              <a:t>Now You Can Put Analytics Where It Was Too Heavy Before</a:t>
            </a:r>
          </a:p>
        </p:txBody>
      </p:sp>
      <p:sp>
        <p:nvSpPr>
          <p:cNvPr id="4" name="TextBox 3"/>
          <p:cNvSpPr txBox="1"/>
          <p:nvPr/>
        </p:nvSpPr>
        <p:spPr>
          <a:xfrm>
            <a:off x="822960" y="182880"/>
            <a:ext cx="10515600" cy="365760"/>
          </a:xfrm>
          <a:prstGeom prst="rect">
            <a:avLst/>
          </a:prstGeom>
          <a:noFill/>
        </p:spPr>
        <p:txBody>
          <a:bodyPr wrap="square" anchor="t">
            <a:spAutoFit/>
          </a:bodyPr>
          <a:lstStyle/>
          <a:p>
            <a:r>
              <a:rPr sz="1100" b="1">
                <a:solidFill>
                  <a:srgbClr val="22D3EE"/>
                </a:solidFill>
                <a:latin typeface="Helvetica Neue"/>
              </a:rPr>
              <a:t>SLIDE 5 — WHERE THIS UNLOCKS</a:t>
            </a:r>
          </a:p>
        </p:txBody>
      </p:sp>
      <p:sp>
        <p:nvSpPr>
          <p:cNvPr id="5" name="TextBox 4"/>
          <p:cNvSpPr txBox="1"/>
          <p:nvPr/>
        </p:nvSpPr>
        <p:spPr>
          <a:xfrm>
            <a:off x="822960" y="1554480"/>
            <a:ext cx="10424160" cy="4023360"/>
          </a:xfrm>
          <a:prstGeom prst="rect">
            <a:avLst/>
          </a:prstGeom>
          <a:noFill/>
        </p:spPr>
        <p:txBody>
          <a:bodyPr wrap="square" anchor="t">
            <a:spAutoFit/>
          </a:bodyPr>
          <a:lstStyle/>
          <a:p>
            <a:pPr>
              <a:spcAft>
                <a:spcPts val="1000"/>
              </a:spcAft>
            </a:pPr>
            <a:r>
              <a:rPr sz="1800" b="1">
                <a:solidFill>
                  <a:srgbClr val="22D3EE"/>
                </a:solidFill>
                <a:latin typeface="Helvetica Neue"/>
              </a:rPr>
              <a:t>▸  </a:t>
            </a:r>
            <a:r>
              <a:rPr sz="1800" b="0">
                <a:solidFill>
                  <a:srgbClr val="E2E8F0"/>
                </a:solidFill>
                <a:latin typeface="Helvetica Neue"/>
              </a:rPr>
              <a:t>Pre-commit hook: validate a data file on every commit</a:t>
            </a:r>
          </a:p>
          <a:p>
            <a:pPr>
              <a:spcAft>
                <a:spcPts val="1000"/>
              </a:spcAft>
            </a:pPr>
            <a:r>
              <a:rPr sz="1800" b="1">
                <a:solidFill>
                  <a:srgbClr val="22D3EE"/>
                </a:solidFill>
                <a:latin typeface="Helvetica Neue"/>
              </a:rPr>
              <a:t>▸  </a:t>
            </a:r>
            <a:r>
              <a:rPr sz="1800" b="0">
                <a:solidFill>
                  <a:srgbClr val="E2E8F0"/>
                </a:solidFill>
                <a:latin typeface="Menlo"/>
              </a:rPr>
              <a:t>Makefile</a:t>
            </a:r>
            <a:r>
              <a:rPr sz="1800" b="0">
                <a:solidFill>
                  <a:srgbClr val="E2E8F0"/>
                </a:solidFill>
                <a:latin typeface="Helvetica Neue"/>
              </a:rPr>
              <a:t> target: regenerate numbers as part of the build</a:t>
            </a:r>
          </a:p>
          <a:p>
            <a:pPr>
              <a:spcAft>
                <a:spcPts val="1000"/>
              </a:spcAft>
            </a:pPr>
            <a:r>
              <a:rPr sz="1800" b="1">
                <a:solidFill>
                  <a:srgbClr val="22D3EE"/>
                </a:solidFill>
                <a:latin typeface="Helvetica Neue"/>
              </a:rPr>
              <a:t>▸  </a:t>
            </a:r>
            <a:r>
              <a:rPr sz="1800" b="0">
                <a:solidFill>
                  <a:srgbClr val="E2E8F0"/>
                </a:solidFill>
                <a:latin typeface="Helvetica Neue"/>
              </a:rPr>
              <a:t>Cron / CI: hundreds of small jobs, none amortizing a runtime</a:t>
            </a:r>
          </a:p>
          <a:p>
            <a:pPr>
              <a:spcAft>
                <a:spcPts val="1000"/>
              </a:spcAft>
            </a:pPr>
            <a:r>
              <a:rPr sz="1800" b="1">
                <a:solidFill>
                  <a:srgbClr val="22D3EE"/>
                </a:solidFill>
                <a:latin typeface="Helvetica Neue"/>
              </a:rPr>
              <a:t>▸  </a:t>
            </a:r>
            <a:r>
              <a:rPr sz="1800" b="0">
                <a:solidFill>
                  <a:srgbClr val="E2E8F0"/>
                </a:solidFill>
                <a:latin typeface="Helvetica Neue"/>
              </a:rPr>
              <a:t>A shell loop over 500 files — and it still feels instant</a:t>
            </a:r>
          </a:p>
        </p:txBody>
      </p:sp>
      <p:sp>
        <p:nvSpPr>
          <p:cNvPr id="6" name="TextBox 5"/>
          <p:cNvSpPr txBox="1"/>
          <p:nvPr/>
        </p:nvSpPr>
        <p:spPr>
          <a:xfrm>
            <a:off x="822960" y="5989320"/>
            <a:ext cx="8686800" cy="640080"/>
          </a:xfrm>
          <a:prstGeom prst="rect">
            <a:avLst/>
          </a:prstGeom>
          <a:noFill/>
        </p:spPr>
        <p:txBody>
          <a:bodyPr wrap="square" anchor="t">
            <a:spAutoFit/>
          </a:bodyPr>
          <a:lstStyle/>
          <a:p>
            <a:r>
              <a:rPr sz="1100" b="0">
                <a:solidFill>
                  <a:srgbClr val="94A3B8"/>
                </a:solidFill>
                <a:latin typeface="Helvetica Neue"/>
              </a:rPr>
              <a:t>▨ Four small icons: git, make, clock, terminal.</a:t>
            </a:r>
          </a:p>
        </p:txBody>
      </p:sp>
      <p:sp>
        <p:nvSpPr>
          <p:cNvPr id="7" name="TextBox 6"/>
          <p:cNvSpPr txBox="1"/>
          <p:nvPr/>
        </p:nvSpPr>
        <p:spPr>
          <a:xfrm>
            <a:off x="10058400" y="5989320"/>
            <a:ext cx="1737360" cy="457200"/>
          </a:xfrm>
          <a:prstGeom prst="rect">
            <a:avLst/>
          </a:prstGeom>
          <a:noFill/>
        </p:spPr>
        <p:txBody>
          <a:bodyPr wrap="square" anchor="t">
            <a:spAutoFit/>
          </a:bodyPr>
          <a:lstStyle/>
          <a:p>
            <a:pPr algn="r"/>
            <a:r>
              <a:rPr sz="1100" b="0">
                <a:solidFill>
                  <a:srgbClr val="22D3EE"/>
                </a:solidFill>
                <a:latin typeface="Helvetica Neue"/>
              </a:rPr>
              <a:t>2:45–3:45</a:t>
            </a:r>
          </a:p>
        </p:txBody>
      </p:sp>
      <p:sp>
        <p:nvSpPr>
          <p:cNvPr id="8" name="TextBox 7"/>
          <p:cNvSpPr txBox="1"/>
          <p:nvPr/>
        </p:nvSpPr>
        <p:spPr>
          <a:xfrm>
            <a:off x="11155680" y="137160"/>
            <a:ext cx="914400" cy="365760"/>
          </a:xfrm>
          <a:prstGeom prst="rect">
            <a:avLst/>
          </a:prstGeom>
          <a:noFill/>
        </p:spPr>
        <p:txBody>
          <a:bodyPr wrap="square" anchor="t">
            <a:spAutoFit/>
          </a:bodyPr>
          <a:lstStyle/>
          <a:p>
            <a:pPr algn="r"/>
            <a:r>
              <a:rPr sz="1000" b="0">
                <a:solidFill>
                  <a:srgbClr val="94A3B8"/>
                </a:solidFill>
                <a:latin typeface="Helvetica Neue"/>
              </a:rPr>
              <a:t>05/06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822960" y="1234440"/>
            <a:ext cx="502920" cy="64008"/>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nchor="t">
            <a:spAutoFit/>
          </a:bodyPr>
          <a:lstStyle/>
          <a:p>
            <a:r>
              <a:rPr sz="3000" b="1">
                <a:solidFill>
                  <a:srgbClr val="E2E8F0"/>
                </a:solidFill>
                <a:latin typeface="Helvetica Neue"/>
              </a:rPr>
              <a:t>The Fast Tool Belongs in the Fast Places</a:t>
            </a:r>
          </a:p>
        </p:txBody>
      </p:sp>
      <p:sp>
        <p:nvSpPr>
          <p:cNvPr id="4" name="TextBox 3"/>
          <p:cNvSpPr txBox="1"/>
          <p:nvPr/>
        </p:nvSpPr>
        <p:spPr>
          <a:xfrm>
            <a:off x="822960" y="182880"/>
            <a:ext cx="10515600" cy="365760"/>
          </a:xfrm>
          <a:prstGeom prst="rect">
            <a:avLst/>
          </a:prstGeom>
          <a:noFill/>
        </p:spPr>
        <p:txBody>
          <a:bodyPr wrap="square" anchor="t">
            <a:spAutoFit/>
          </a:bodyPr>
          <a:lstStyle/>
          <a:p>
            <a:r>
              <a:rPr sz="1100" b="1">
                <a:solidFill>
                  <a:srgbClr val="C084FC"/>
                </a:solidFill>
                <a:latin typeface="Helvetica Neue"/>
              </a:rPr>
              <a:t>SLIDE 6 — CLOSE</a:t>
            </a:r>
          </a:p>
        </p:txBody>
      </p:sp>
      <p:sp>
        <p:nvSpPr>
          <p:cNvPr id="5" name="TextBox 4"/>
          <p:cNvSpPr txBox="1"/>
          <p:nvPr/>
        </p:nvSpPr>
        <p:spPr>
          <a:xfrm>
            <a:off x="822960" y="1554480"/>
            <a:ext cx="10424160" cy="4023360"/>
          </a:xfrm>
          <a:prstGeom prst="rect">
            <a:avLst/>
          </a:prstGeom>
          <a:noFill/>
        </p:spPr>
        <p:txBody>
          <a:bodyPr wrap="square" anchor="t">
            <a:spAutoFit/>
          </a:bodyPr>
          <a:lstStyle/>
          <a:p>
            <a:pPr>
              <a:spcAft>
                <a:spcPts val="1000"/>
              </a:spcAft>
            </a:pPr>
            <a:r>
              <a:rPr sz="1800" b="1">
                <a:solidFill>
                  <a:srgbClr val="C084FC"/>
                </a:solidFill>
                <a:latin typeface="Helvetica Neue"/>
              </a:rPr>
              <a:t>▸  </a:t>
            </a:r>
            <a:r>
              <a:rPr sz="1800" b="0">
                <a:solidFill>
                  <a:srgbClr val="E2E8F0"/>
                </a:solidFill>
                <a:latin typeface="Helvetica Neue"/>
              </a:rPr>
              <a:t>Same DSL inline and resident (see Demo 2)</a:t>
            </a:r>
          </a:p>
          <a:p>
            <a:pPr>
              <a:spcAft>
                <a:spcPts val="1000"/>
              </a:spcAft>
            </a:pPr>
            <a:r>
              <a:rPr sz="1800" b="1">
                <a:solidFill>
                  <a:srgbClr val="C084FC"/>
                </a:solidFill>
                <a:latin typeface="Helvetica Neue"/>
              </a:rPr>
              <a:t>▸  </a:t>
            </a:r>
            <a:r>
              <a:rPr sz="1800" b="0">
                <a:solidFill>
                  <a:srgbClr val="E2E8F0"/>
                </a:solidFill>
                <a:latin typeface="Helvetica Neue"/>
              </a:rPr>
              <a:t>Same grammar an LLM can emit (</a:t>
            </a:r>
            <a:r>
              <a:rPr sz="1800" b="0">
                <a:solidFill>
                  <a:srgbClr val="E2E8F0"/>
                </a:solidFill>
                <a:latin typeface="Menlo"/>
              </a:rPr>
              <a:t>docs/llm-grammar.md</a:t>
            </a:r>
            <a:r>
              <a:rPr sz="1800" b="0">
                <a:solidFill>
                  <a:srgbClr val="E2E8F0"/>
                </a:solidFill>
                <a:latin typeface="Helvetica Neue"/>
              </a:rPr>
              <a:t>)</a:t>
            </a:r>
          </a:p>
          <a:p>
            <a:pPr>
              <a:spcAft>
                <a:spcPts val="1000"/>
              </a:spcAft>
            </a:pPr>
            <a:r>
              <a:rPr sz="1800" b="1">
                <a:solidFill>
                  <a:srgbClr val="C084FC"/>
                </a:solidFill>
                <a:latin typeface="Helvetica Neue"/>
              </a:rPr>
              <a:t>▸  </a:t>
            </a:r>
            <a:r>
              <a:rPr sz="1800" b="0">
                <a:solidFill>
                  <a:srgbClr val="E2E8F0"/>
                </a:solidFill>
                <a:latin typeface="Helvetica Neue"/>
              </a:rPr>
              <a:t>Compiled, Apple-silicon-native, no runtime to warm</a:t>
            </a:r>
          </a:p>
        </p:txBody>
      </p:sp>
      <p:sp>
        <p:nvSpPr>
          <p:cNvPr id="6" name="TextBox 5"/>
          <p:cNvSpPr txBox="1"/>
          <p:nvPr/>
        </p:nvSpPr>
        <p:spPr>
          <a:xfrm>
            <a:off x="822960" y="5989320"/>
            <a:ext cx="8686800" cy="640080"/>
          </a:xfrm>
          <a:prstGeom prst="rect">
            <a:avLst/>
          </a:prstGeom>
          <a:noFill/>
        </p:spPr>
        <p:txBody>
          <a:bodyPr wrap="square" anchor="t">
            <a:spAutoFit/>
          </a:bodyPr>
          <a:lstStyle/>
          <a:p>
            <a:r>
              <a:rPr sz="1100" b="0">
                <a:solidFill>
                  <a:srgbClr val="94A3B8"/>
                </a:solidFill>
                <a:latin typeface="Helvetica Neue"/>
              </a:rPr>
              <a:t>▨ SwiftPandas logo. "Demo 2: hold a session →"</a:t>
            </a:r>
          </a:p>
        </p:txBody>
      </p:sp>
      <p:sp>
        <p:nvSpPr>
          <p:cNvPr id="7" name="TextBox 6"/>
          <p:cNvSpPr txBox="1"/>
          <p:nvPr/>
        </p:nvSpPr>
        <p:spPr>
          <a:xfrm>
            <a:off x="10058400" y="5989320"/>
            <a:ext cx="1737360" cy="457200"/>
          </a:xfrm>
          <a:prstGeom prst="rect">
            <a:avLst/>
          </a:prstGeom>
          <a:noFill/>
        </p:spPr>
        <p:txBody>
          <a:bodyPr wrap="square" anchor="t">
            <a:spAutoFit/>
          </a:bodyPr>
          <a:lstStyle/>
          <a:p>
            <a:pPr algn="r"/>
            <a:r>
              <a:rPr sz="1100" b="0">
                <a:solidFill>
                  <a:srgbClr val="C084FC"/>
                </a:solidFill>
                <a:latin typeface="Helvetica Neue"/>
              </a:rPr>
              <a:t>3:45–4:30</a:t>
            </a:r>
          </a:p>
        </p:txBody>
      </p:sp>
      <p:sp>
        <p:nvSpPr>
          <p:cNvPr id="8" name="TextBox 7"/>
          <p:cNvSpPr txBox="1"/>
          <p:nvPr/>
        </p:nvSpPr>
        <p:spPr>
          <a:xfrm>
            <a:off x="11155680" y="137160"/>
            <a:ext cx="914400" cy="365760"/>
          </a:xfrm>
          <a:prstGeom prst="rect">
            <a:avLst/>
          </a:prstGeom>
          <a:noFill/>
        </p:spPr>
        <p:txBody>
          <a:bodyPr wrap="square" anchor="t">
            <a:spAutoFit/>
          </a:bodyPr>
          <a:lstStyle/>
          <a:p>
            <a:pPr algn="r"/>
            <a:r>
              <a:rPr sz="1000" b="0">
                <a:solidFill>
                  <a:srgbClr val="94A3B8"/>
                </a:solidFill>
                <a:latin typeface="Helvetica Neue"/>
              </a:rPr>
              <a:t>06/06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