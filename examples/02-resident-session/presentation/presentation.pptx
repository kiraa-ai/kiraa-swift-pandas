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[0:00–0:30] Demo 1 was about jobs that start and stop. But sometimes you don't want to stop — you want to load a dataset once and then interrogate it, question after question, the way you would in a notebook. That's what this demo is. A resident session: the data stays hot in memory, and every question after the first is a round trip measured in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[0:30–1:15] Here's the insight. When people say they love notebooks for exploration, what they actually love is that the data is already in memory — you're not re-reading a CSV every time you tweak a query. That warm-kernel feeling. SwiftPandas gives you exactly that, but as shell commands you can script, version, and automate. A daemon holds the dataframes; `load`, `pipe`, `show`, `save` are just thin clients talking to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[1:15–1:45] The whole session is seven commands. Start the daemon, load the file once — that's the only time we touch the CSV — then run as many pipelines as we want against the hot copy. List what's in memory, peek at a frame, save the ones we care about, and shut it down. Let me run it. Keep your eye on the timing next to `load` versus the timing next to each `pipe`. *[switch to terminal]*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[1:45–2:45] Look at the gap. Loading 25,000 rows took about twenty milliseconds — once. After that, every pipeline, including real group-bys and stacked filters, came back in about ten. Not because the work is trivial, but because the data never left memory. And notice we built a little tree of derived frames — profitable, by-channel, west-widgets — all resident, all named, none of them touching disk until we explicitly saved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[2:45–3:45] Why does resident memory matter beyond feeling fast? Because it changes what you can build. A dashboard backend loads its data once at startup and answers every user request in milliseconds. An analyst keeps a multi-gigabyte extract hot and explores it interactively. A multi-stage pipeline passes dataframes between steps by name instead of re-serializing to disk each time. And because sessions are isolated by socket, you can run many at once without them stepping on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[3:45–4:30] And to be clear — this isn't a different product from Demo 1. The pipeline grammar is identical whether you run it one-shot or inside a session. `filter`, `groupby`, `agg`, `derive` — you learn it once. It's also the grammar our LLM tooling emits from plain English. One mental model, two execution modes.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[4:30–5:15] So: one-shot when you want a job that starts and stops, resident when you want to hold a dataset and iterate. Same grammar, same speed, your choice of shape. In the last demo I'll show the third face of this — turning a raw extract into a set of report artifacts a scheduler can build every night, unattended.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71800"/>
            <a:ext cx="822960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>
                <a:solidFill>
                  <a:srgbClr val="E2E8F0"/>
                </a:solidFill>
                <a:latin typeface="Helvetica Neue"/>
              </a:rPr>
              <a:t>Hold a Session, Iterate at Conversational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657600"/>
            <a:ext cx="102412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>
                <a:solidFill>
                  <a:srgbClr val="94A3B8"/>
                </a:solidFill>
                <a:latin typeface="Helvetica Neue"/>
              </a:rPr>
              <a:t>Parse the data once. Ask it a hundred questions. Each answer in milliseconds.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60350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22D3EE"/>
                </a:solidFill>
                <a:latin typeface="Helvetica Neue"/>
              </a:rPr>
              <a:t>6-Minute Demo Presentation — Demo 2: Resident Session   ·   *6-Minute Demo Presentation — Demo 2: Resident Session*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1371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 Neue"/>
              </a:rPr>
              <a:t>01/07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34440"/>
            <a:ext cx="50292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E2E8F0"/>
                </a:solidFill>
                <a:latin typeface="Helvetica Neue"/>
              </a:rPr>
              <a:t>You Already Know This Pattern — It's the Warm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Helvetica Neue"/>
              </a:rPr>
              <a:t>SLIDE 2 — THE NOTEBOOK PATTERN, WITHOUT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In a notebook, the first </a:t>
            </a:r>
            <a:r>
              <a:rPr sz="1800" b="0">
                <a:solidFill>
                  <a:srgbClr val="E2E8F0"/>
                </a:solidFill>
                <a:latin typeface="Menlo"/>
              </a:rPr>
              <a:t>read_csv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is slow; everything after is fast because the frame is in memory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The magic isn't the notebook UI — it's *keeping the data resident*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SwiftPandas gives you that as plain shell commands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A background daemon owns the frames; your commands are thin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Helvetica Neue"/>
              </a:rPr>
              <a:t>▨ Split: left, a Jupyter cell; right, the same idea as load / pipe / save shell 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9893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2D3EE"/>
                </a:solidFill>
                <a:latin typeface="Helvetica Neue"/>
              </a:rPr>
              <a:t>0:30–1:15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371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 Neue"/>
              </a:rPr>
              <a:t>02/07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34440"/>
            <a:ext cx="50292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E2E8F0"/>
                </a:solidFill>
                <a:latin typeface="Helvetica Neue"/>
              </a:rPr>
              <a:t>Seven Commands, One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Helvetica Neue"/>
              </a:rPr>
              <a:t>SLIDE 3 — THE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1.  </a:t>
            </a:r>
            <a:r>
              <a:rPr sz="1800" b="0">
                <a:solidFill>
                  <a:srgbClr val="E2E8F0"/>
                </a:solidFill>
                <a:latin typeface="Menlo"/>
              </a:rPr>
              <a:t>server start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— boot the daemon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2.  </a:t>
            </a:r>
            <a:r>
              <a:rPr sz="1800" b="0">
                <a:solidFill>
                  <a:srgbClr val="E2E8F0"/>
                </a:solidFill>
                <a:latin typeface="Menlo"/>
              </a:rPr>
              <a:t>load sales.csv --name sales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— </a:t>
            </a:r>
            <a:r>
              <a:rPr sz="1800" b="1">
                <a:solidFill>
                  <a:srgbClr val="E2E8F0"/>
                </a:solidFill>
                <a:latin typeface="Helvetica Neue"/>
              </a:rPr>
              <a:t>the only parse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3.  </a:t>
            </a:r>
            <a:r>
              <a:rPr sz="1800" b="0">
                <a:solidFill>
                  <a:srgbClr val="E2E8F0"/>
                </a:solidFill>
                <a:latin typeface="Menlo"/>
              </a:rPr>
              <a:t>pipe --from sales …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— analyze (repeat freely)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4.  </a:t>
            </a:r>
            <a:r>
              <a:rPr sz="1800" b="0">
                <a:solidFill>
                  <a:srgbClr val="E2E8F0"/>
                </a:solidFill>
                <a:latin typeface="Menlo"/>
              </a:rPr>
              <a:t>list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— what's resident?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5.  </a:t>
            </a:r>
            <a:r>
              <a:rPr sz="1800" b="0">
                <a:solidFill>
                  <a:srgbClr val="E2E8F0"/>
                </a:solidFill>
                <a:latin typeface="Menlo"/>
              </a:rPr>
              <a:t>show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— peek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6.  </a:t>
            </a:r>
            <a:r>
              <a:rPr sz="1800" b="0">
                <a:solidFill>
                  <a:srgbClr val="E2E8F0"/>
                </a:solidFill>
                <a:latin typeface="Menlo"/>
              </a:rPr>
              <a:t>save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— write a deliverable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7.  </a:t>
            </a:r>
            <a:r>
              <a:rPr sz="1800" b="0">
                <a:solidFill>
                  <a:srgbClr val="E2E8F0"/>
                </a:solidFill>
                <a:latin typeface="Menlo"/>
              </a:rPr>
              <a:t>server stop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— shut 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Helvetica Neue"/>
              </a:rPr>
              <a:t>▨ A vertical timeline; step 2 highlighted as "pay once", steps 3–6 tagged "≈10ms each".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9893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2D3EE"/>
                </a:solidFill>
                <a:latin typeface="Helvetica Neue"/>
              </a:rPr>
              <a:t>1:15–1:45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371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 Neue"/>
              </a:rPr>
              <a:t>03/07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34440"/>
            <a:ext cx="50292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E2E8F0"/>
                </a:solidFill>
                <a:latin typeface="Helvetica Neue"/>
              </a:rPr>
              <a:t>The Parse Happened Once. Everything Else Was Free.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Helvetica Neue"/>
              </a:rPr>
              <a:t>SLIDE 4 — WHAT YOU JUST SAW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Menlo"/>
              </a:rPr>
              <a:t>load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— 25,000 rows parsed, ~20ms, </a:t>
            </a:r>
            <a:r>
              <a:rPr sz="1800" b="1">
                <a:solidFill>
                  <a:srgbClr val="E2E8F0"/>
                </a:solidFill>
                <a:latin typeface="Helvetica Neue"/>
              </a:rPr>
              <a:t>once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Each </a:t>
            </a:r>
            <a:r>
              <a:rPr sz="1800" b="0">
                <a:solidFill>
                  <a:srgbClr val="E2E8F0"/>
                </a:solidFill>
                <a:latin typeface="Menlo"/>
              </a:rPr>
              <a:t>pipe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— group-bys and multi-filter chains — </a:t>
            </a:r>
            <a:r>
              <a:rPr sz="1800" b="1">
                <a:solidFill>
                  <a:srgbClr val="E2E8F0"/>
                </a:solidFill>
                <a:latin typeface="Helvetica Neue"/>
              </a:rPr>
              <a:t>~10ms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, no re-read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Derived frames stack up in memory: </a:t>
            </a:r>
            <a:r>
              <a:rPr sz="1800" b="0">
                <a:solidFill>
                  <a:srgbClr val="E2E8F0"/>
                </a:solidFill>
                <a:latin typeface="Menlo"/>
              </a:rPr>
              <a:t>sales → profitable → by_channel → …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Menlo"/>
              </a:rPr>
              <a:t>save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only when you want an artifact on disk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Helvetica Neue"/>
              </a:rPr>
              <a:t>▨ Two columns of timing bars — load a single tall bar, pipes a row of tiny equal bars.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9893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2D3EE"/>
                </a:solidFill>
                <a:latin typeface="Helvetica Neue"/>
              </a:rPr>
              <a:t>1:45–2:45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371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 Neue"/>
              </a:rPr>
              <a:t>04/07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34440"/>
            <a:ext cx="50292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E2E8F0"/>
                </a:solidFill>
                <a:latin typeface="Helvetica Neue"/>
              </a:rPr>
              <a:t>Resident Memory Is a Superpower for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Helvetica Neue"/>
              </a:rPr>
              <a:t>SLIDE 5 — WHY A DAEMON, NOT A LIBRARY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A dashboard backend: load once at boot, serve queries per request at ~10ms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An interactive triage session: keep a big extract hot while you dig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A pipeline stage: hand frames between steps by name, not by re-serializing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Isolated by socket — many independent sessions, no collisions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Helvetica Neue"/>
              </a:rPr>
              <a:t>▨ Three use-case cards: "dashboard", "triage", "pipeline".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9893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2D3EE"/>
                </a:solidFill>
                <a:latin typeface="Helvetica Neue"/>
              </a:rPr>
              <a:t>2:45–3:45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371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 Neue"/>
              </a:rPr>
              <a:t>05/07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34440"/>
            <a:ext cx="50292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E2E8F0"/>
                </a:solidFill>
                <a:latin typeface="Helvetica Neue"/>
              </a:rPr>
              <a:t>Inline or Resident — It's One 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22D3EE"/>
                </a:solidFill>
                <a:latin typeface="Helvetica Neue"/>
              </a:rPr>
              <a:t>SLIDE 6 — THE SAME GRAMMAR, EVERYWHERE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Demo 1's </a:t>
            </a:r>
            <a:r>
              <a:rPr sz="1800" b="0">
                <a:solidFill>
                  <a:srgbClr val="E2E8F0"/>
                </a:solidFill>
                <a:latin typeface="Menlo"/>
              </a:rPr>
              <a:t>-c "filter(...) | groupby(...)"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 is the *same* grammar as </a:t>
            </a:r>
            <a:r>
              <a:rPr sz="1800" b="0">
                <a:solidFill>
                  <a:srgbClr val="E2E8F0"/>
                </a:solidFill>
                <a:latin typeface="Menlo"/>
              </a:rPr>
              <a:t>pipe -c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Learn it once; use it one-shot or in a session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The same grammar an LLM emits from natural language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22D3EE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No second API to keep in your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Helvetica Neue"/>
              </a:rPr>
              <a:t>▨ One DSL string in the center, arrows to "one-shot" and "resident".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9893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22D3EE"/>
                </a:solidFill>
                <a:latin typeface="Helvetica Neue"/>
              </a:rPr>
              <a:t>3:45–4:30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371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 Neue"/>
              </a:rPr>
              <a:t>06/07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34440"/>
            <a:ext cx="502920" cy="64008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E2E8F0"/>
                </a:solidFill>
                <a:latin typeface="Helvetica Neue"/>
              </a:rPr>
              <a:t>Load Once. Ask Everything. Stay Fast.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C084FC"/>
                </a:solidFill>
                <a:latin typeface="Helvetica Neue"/>
              </a:rPr>
              <a:t>SLIDE 7 —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First read: pay once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Every question after: conversational speed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C084FC"/>
                </a:solidFill>
                <a:latin typeface="Helvetica Neue"/>
              </a:rPr>
              <a:t>▸  </a:t>
            </a:r>
            <a:r>
              <a:rPr sz="1800" b="0">
                <a:solidFill>
                  <a:srgbClr val="E2E8F0"/>
                </a:solidFill>
                <a:latin typeface="Helvetica Neue"/>
              </a:rPr>
              <a:t>Notebook ergonomics, shell-scriptable, Apple-silicon-native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94A3B8"/>
                </a:solidFill>
                <a:latin typeface="Helvetica Neue"/>
              </a:rPr>
              <a:t>▨ SwiftPandas logo. "Demo 3: batch reports as artifacts →"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5989320"/>
            <a:ext cx="1737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C084FC"/>
                </a:solidFill>
                <a:latin typeface="Helvetica Neue"/>
              </a:rPr>
              <a:t>4:30–5:15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13716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Helvetica Neue"/>
              </a:rPr>
              <a:t>07/07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