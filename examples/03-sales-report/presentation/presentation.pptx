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 The first two demos were about speed and interactivity. This one's about the boring, essential thing every data team actually lives on: turning a raw extract into deliverables, on a schedule, without a human in the loop. I'll show you a nightly report job that's nothing more than a shell file — and why that's exactly what you want.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[0:30–1:15] Everybody has this job. Raw data shows up, and every morning someone needs the same set of cuts — the margin leaderboard, the channel summary, the top transactions. Usually that's a Python script with a pinned environment, a scheduler, and some anxiety about whether the runtime still works. But strip it down: the *value* is just a few clean CSV files that a dashboard or a stakeholder consumes. Everything else is overhead.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[1:15–1:45] Here's a realistic report — three sections. A margin leaderboard grouped by region and product. A channel performance summary. And the ten biggest individual transactions. Each one is a single pipeline you can read top to bottom. Fifty thousand rows. Let me run the whole thing. *[switch to terminal, run ./run.sh]*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[1:45–2:45] Three reports, done. Notice what's in there: chained derivations — I compute profit, then compute margin percent *from* profit a stage later. Multi-column group-bys. A projection-and-top-N to pull out the biggest deals. These aren't toy operations; it's the real vocabulary of analytics. And the output is exactly three CSV files sitting in a folder, ready for whatever consumes them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[2:45–3:45] Now the payoff. Because there's no resident state, this file *is* the job. You point cron at it, or a CI step, and you're finished — there's nothing running between executions to leak memory or fall over. It's deterministic: the same extract produces byte-for-byte the same reports, which is a gift when you're diffing yesterday's numbers against today's or handing them to an auditor. And the only dependency is a single binary. No environment to pin.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[3:45–4:30] And it scales the way shell scales. Wrap it in a loop and you've got a reporting fleet — one report folder per regional extract, per client, per day. Because output is deterministic, your CI can literally assert the numbers didn't unexpectedly move. It composes with the other two modes: batch sections like these for the scheduled work, a resident session when a human needs to drill in. Same grammar throughout.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[4:30–5:15] That's the trilogy. Demo 1: startup is free, so put analytics anywhere. Demo 2: hold a session and iterate at conversational speed. Demo 3: turn raw data into deliverables on a schedule, with nothing to babysit. Three shapes, one engine, one grammar — all of it compiled and native to the hardware in your laptop. The deliverable is the point; SwiftPandas just gets out of the 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2971800"/>
            <a:ext cx="822960"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2011680"/>
          </a:xfrm>
          <a:prstGeom prst="rect">
            <a:avLst/>
          </a:prstGeom>
          <a:noFill/>
        </p:spPr>
        <p:txBody>
          <a:bodyPr wrap="square" anchor="t">
            <a:spAutoFit/>
          </a:bodyPr>
          <a:lstStyle/>
          <a:p>
            <a:r>
              <a:rPr sz="4600" b="1">
                <a:solidFill>
                  <a:srgbClr val="E2E8F0"/>
                </a:solidFill>
                <a:latin typeface="Helvetica Neue"/>
              </a:rPr>
              <a:t>Batch Analytics as Artifacts</a:t>
            </a:r>
          </a:p>
        </p:txBody>
      </p:sp>
      <p:sp>
        <p:nvSpPr>
          <p:cNvPr id="4" name="TextBox 3"/>
          <p:cNvSpPr txBox="1"/>
          <p:nvPr/>
        </p:nvSpPr>
        <p:spPr>
          <a:xfrm>
            <a:off x="841248" y="3657600"/>
            <a:ext cx="10241280" cy="1463040"/>
          </a:xfrm>
          <a:prstGeom prst="rect">
            <a:avLst/>
          </a:prstGeom>
          <a:noFill/>
        </p:spPr>
        <p:txBody>
          <a:bodyPr wrap="square" anchor="t">
            <a:spAutoFit/>
          </a:bodyPr>
          <a:lstStyle/>
          <a:p>
            <a:r>
              <a:rPr sz="2000" b="0">
                <a:solidFill>
                  <a:srgbClr val="94A3B8"/>
                </a:solidFill>
                <a:latin typeface="Helvetica Neue"/>
              </a:rPr>
              <a:t>One raw extract in. A folder of report deliverables out. Cron-ready, no state to manage.</a:t>
            </a:r>
          </a:p>
        </p:txBody>
      </p:sp>
      <p:sp>
        <p:nvSpPr>
          <p:cNvPr id="5" name="TextBox 4"/>
          <p:cNvSpPr txBox="1"/>
          <p:nvPr/>
        </p:nvSpPr>
        <p:spPr>
          <a:xfrm>
            <a:off x="841248" y="6035040"/>
            <a:ext cx="10241280" cy="548640"/>
          </a:xfrm>
          <a:prstGeom prst="rect">
            <a:avLst/>
          </a:prstGeom>
          <a:noFill/>
        </p:spPr>
        <p:txBody>
          <a:bodyPr wrap="square" anchor="t">
            <a:spAutoFit/>
          </a:bodyPr>
          <a:lstStyle/>
          <a:p>
            <a:r>
              <a:rPr sz="1200" b="0">
                <a:solidFill>
                  <a:srgbClr val="22D3EE"/>
                </a:solidFill>
                <a:latin typeface="Helvetica Neue"/>
              </a:rPr>
              <a:t>6-Minute Demo Presentation — Demo 3: Sales Report   ·   *6-Minute Demo Presentation — Demo 3: Sales Report*</a:t>
            </a:r>
          </a:p>
        </p:txBody>
      </p:sp>
      <p:sp>
        <p:nvSpPr>
          <p:cNvPr id="6" name="TextBox 5"/>
          <p:cNvSpPr txBox="1"/>
          <p:nvPr/>
        </p:nvSpPr>
        <p:spPr>
          <a:xfrm>
            <a:off x="11155680" y="137160"/>
            <a:ext cx="914400" cy="365760"/>
          </a:xfrm>
          <a:prstGeom prst="rect">
            <a:avLst/>
          </a:prstGeom>
          <a:noFill/>
        </p:spPr>
        <p:txBody>
          <a:bodyPr wrap="square" anchor="t">
            <a:spAutoFit/>
          </a:bodyPr>
          <a:lstStyle/>
          <a:p>
            <a:pPr algn="r"/>
            <a:r>
              <a:rPr sz="1000" b="0">
                <a:solidFill>
                  <a:srgbClr val="94A3B8"/>
                </a:solidFill>
                <a:latin typeface="Helvetica Neue"/>
              </a:rPr>
              <a:t>01/07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822960" y="1234440"/>
            <a:ext cx="502920" cy="640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nchor="t">
            <a:spAutoFit/>
          </a:bodyPr>
          <a:lstStyle/>
          <a:p>
            <a:r>
              <a:rPr sz="3000" b="1">
                <a:solidFill>
                  <a:srgbClr val="E2E8F0"/>
                </a:solidFill>
                <a:latin typeface="Helvetica Neue"/>
              </a:rPr>
              <a:t>Every Team Has a "Build the Numbers" Job</a:t>
            </a:r>
          </a:p>
        </p:txBody>
      </p:sp>
      <p:sp>
        <p:nvSpPr>
          <p:cNvPr id="4" name="TextBox 3"/>
          <p:cNvSpPr txBox="1"/>
          <p:nvPr/>
        </p:nvSpPr>
        <p:spPr>
          <a:xfrm>
            <a:off x="822960" y="182880"/>
            <a:ext cx="10515600" cy="365760"/>
          </a:xfrm>
          <a:prstGeom prst="rect">
            <a:avLst/>
          </a:prstGeom>
          <a:noFill/>
        </p:spPr>
        <p:txBody>
          <a:bodyPr wrap="square" anchor="t">
            <a:spAutoFit/>
          </a:bodyPr>
          <a:lstStyle/>
          <a:p>
            <a:r>
              <a:rPr sz="1100" b="1">
                <a:solidFill>
                  <a:srgbClr val="22D3EE"/>
                </a:solidFill>
                <a:latin typeface="Helvetica Neue"/>
              </a:rPr>
              <a:t>SLIDE 2 — THE JOB EVERYONE HAS</a:t>
            </a:r>
          </a:p>
        </p:txBody>
      </p:sp>
      <p:sp>
        <p:nvSpPr>
          <p:cNvPr id="5" name="TextBox 4"/>
          <p:cNvSpPr txBox="1"/>
          <p:nvPr/>
        </p:nvSpPr>
        <p:spPr>
          <a:xfrm>
            <a:off x="822960" y="1554480"/>
            <a:ext cx="10424160" cy="4023360"/>
          </a:xfrm>
          <a:prstGeom prst="rect">
            <a:avLst/>
          </a:prstGeom>
          <a:noFill/>
        </p:spPr>
        <p:txBody>
          <a:bodyPr wrap="square" anchor="t">
            <a:spAutoFit/>
          </a:bodyPr>
          <a:lstStyle/>
          <a:p>
            <a:pPr>
              <a:spcAft>
                <a:spcPts val="1000"/>
              </a:spcAft>
            </a:pPr>
            <a:r>
              <a:rPr sz="1800" b="1">
                <a:solidFill>
                  <a:srgbClr val="22D3EE"/>
                </a:solidFill>
                <a:latin typeface="Helvetica Neue"/>
              </a:rPr>
              <a:t>▸  </a:t>
            </a:r>
            <a:r>
              <a:rPr sz="1800" b="0">
                <a:solidFill>
                  <a:srgbClr val="E2E8F0"/>
                </a:solidFill>
                <a:latin typeface="Helvetica Neue"/>
              </a:rPr>
              <a:t>Raw data lands (export, dump, extract)</a:t>
            </a:r>
          </a:p>
          <a:p>
            <a:pPr>
              <a:spcAft>
                <a:spcPts val="1000"/>
              </a:spcAft>
            </a:pPr>
            <a:r>
              <a:rPr sz="1800" b="1">
                <a:solidFill>
                  <a:srgbClr val="22D3EE"/>
                </a:solidFill>
                <a:latin typeface="Helvetica Neue"/>
              </a:rPr>
              <a:t>▸  </a:t>
            </a:r>
            <a:r>
              <a:rPr sz="1800" b="0">
                <a:solidFill>
                  <a:srgbClr val="E2E8F0"/>
                </a:solidFill>
                <a:latin typeface="Helvetica Neue"/>
              </a:rPr>
              <a:t>Someone needs the same cuts every day: leaderboards, summaries, top-N</a:t>
            </a:r>
          </a:p>
          <a:p>
            <a:pPr>
              <a:spcAft>
                <a:spcPts val="1000"/>
              </a:spcAft>
            </a:pPr>
            <a:r>
              <a:rPr sz="1800" b="1">
                <a:solidFill>
                  <a:srgbClr val="22D3EE"/>
                </a:solidFill>
                <a:latin typeface="Helvetica Neue"/>
              </a:rPr>
              <a:t>▸  </a:t>
            </a:r>
            <a:r>
              <a:rPr sz="1800" b="0">
                <a:solidFill>
                  <a:srgbClr val="E2E8F0"/>
                </a:solidFill>
                <a:latin typeface="Helvetica Neue"/>
              </a:rPr>
              <a:t>Today: a Python script, a runtime, a scheduler, and a prayer about dependencies</a:t>
            </a:r>
          </a:p>
          <a:p>
            <a:pPr>
              <a:spcAft>
                <a:spcPts val="1000"/>
              </a:spcAft>
            </a:pPr>
            <a:r>
              <a:rPr sz="1800" b="1">
                <a:solidFill>
                  <a:srgbClr val="22D3EE"/>
                </a:solidFill>
                <a:latin typeface="Helvetica Neue"/>
              </a:rPr>
              <a:t>▸  </a:t>
            </a:r>
            <a:r>
              <a:rPr sz="1800" b="0">
                <a:solidFill>
                  <a:srgbClr val="E2E8F0"/>
                </a:solidFill>
                <a:latin typeface="Helvetica Neue"/>
              </a:rPr>
              <a:t>The output is what matters — a few clean CSVs someone downstream consumes</a:t>
            </a:r>
          </a:p>
        </p:txBody>
      </p:sp>
      <p:sp>
        <p:nvSpPr>
          <p:cNvPr id="6" name="TextBox 5"/>
          <p:cNvSpPr txBox="1"/>
          <p:nvPr/>
        </p:nvSpPr>
        <p:spPr>
          <a:xfrm>
            <a:off x="822960" y="5989320"/>
            <a:ext cx="8686800" cy="640080"/>
          </a:xfrm>
          <a:prstGeom prst="rect">
            <a:avLst/>
          </a:prstGeom>
          <a:noFill/>
        </p:spPr>
        <p:txBody>
          <a:bodyPr wrap="square" anchor="t">
            <a:spAutoFit/>
          </a:bodyPr>
          <a:lstStyle/>
          <a:p>
            <a:r>
              <a:rPr sz="1100" b="0">
                <a:solidFill>
                  <a:srgbClr val="94A3B8"/>
                </a:solidFill>
                <a:latin typeface="Helvetica Neue"/>
              </a:rPr>
              <a:t>▨ A pipeline: "raw.csv → [job] → a.csv, b.csv, c.csv".</a:t>
            </a:r>
          </a:p>
        </p:txBody>
      </p:sp>
      <p:sp>
        <p:nvSpPr>
          <p:cNvPr id="7" name="TextBox 6"/>
          <p:cNvSpPr txBox="1"/>
          <p:nvPr/>
        </p:nvSpPr>
        <p:spPr>
          <a:xfrm>
            <a:off x="10058400" y="5989320"/>
            <a:ext cx="1737360" cy="457200"/>
          </a:xfrm>
          <a:prstGeom prst="rect">
            <a:avLst/>
          </a:prstGeom>
          <a:noFill/>
        </p:spPr>
        <p:txBody>
          <a:bodyPr wrap="square" anchor="t">
            <a:spAutoFit/>
          </a:bodyPr>
          <a:lstStyle/>
          <a:p>
            <a:pPr algn="r"/>
            <a:r>
              <a:rPr sz="1100" b="0">
                <a:solidFill>
                  <a:srgbClr val="22D3EE"/>
                </a:solidFill>
                <a:latin typeface="Helvetica Neue"/>
              </a:rPr>
              <a:t>0:30–1:15</a:t>
            </a:r>
          </a:p>
        </p:txBody>
      </p:sp>
      <p:sp>
        <p:nvSpPr>
          <p:cNvPr id="8" name="TextBox 7"/>
          <p:cNvSpPr txBox="1"/>
          <p:nvPr/>
        </p:nvSpPr>
        <p:spPr>
          <a:xfrm>
            <a:off x="11155680" y="137160"/>
            <a:ext cx="914400" cy="365760"/>
          </a:xfrm>
          <a:prstGeom prst="rect">
            <a:avLst/>
          </a:prstGeom>
          <a:noFill/>
        </p:spPr>
        <p:txBody>
          <a:bodyPr wrap="square" anchor="t">
            <a:spAutoFit/>
          </a:bodyPr>
          <a:lstStyle/>
          <a:p>
            <a:pPr algn="r"/>
            <a:r>
              <a:rPr sz="1000" b="0">
                <a:solidFill>
                  <a:srgbClr val="94A3B8"/>
                </a:solidFill>
                <a:latin typeface="Helvetica Neue"/>
              </a:rPr>
              <a:t>02/07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822960" y="1234440"/>
            <a:ext cx="502920" cy="640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nchor="t">
            <a:spAutoFit/>
          </a:bodyPr>
          <a:lstStyle/>
          <a:p>
            <a:r>
              <a:rPr sz="3000" b="1">
                <a:solidFill>
                  <a:srgbClr val="E2E8F0"/>
                </a:solidFill>
                <a:latin typeface="Helvetica Neue"/>
              </a:rPr>
              <a:t>Three Sections, Three Pipelines, One File</a:t>
            </a:r>
          </a:p>
        </p:txBody>
      </p:sp>
      <p:sp>
        <p:nvSpPr>
          <p:cNvPr id="4" name="TextBox 3"/>
          <p:cNvSpPr txBox="1"/>
          <p:nvPr/>
        </p:nvSpPr>
        <p:spPr>
          <a:xfrm>
            <a:off x="822960" y="182880"/>
            <a:ext cx="10515600" cy="365760"/>
          </a:xfrm>
          <a:prstGeom prst="rect">
            <a:avLst/>
          </a:prstGeom>
          <a:noFill/>
        </p:spPr>
        <p:txBody>
          <a:bodyPr wrap="square" anchor="t">
            <a:spAutoFit/>
          </a:bodyPr>
          <a:lstStyle/>
          <a:p>
            <a:r>
              <a:rPr sz="1100" b="1">
                <a:solidFill>
                  <a:srgbClr val="22D3EE"/>
                </a:solidFill>
                <a:latin typeface="Helvetica Neue"/>
              </a:rPr>
              <a:t>SLIDE 3 — THE REPORT</a:t>
            </a:r>
          </a:p>
        </p:txBody>
      </p:sp>
      <p:sp>
        <p:nvSpPr>
          <p:cNvPr id="5" name="TextBox 4"/>
          <p:cNvSpPr txBox="1"/>
          <p:nvPr/>
        </p:nvSpPr>
        <p:spPr>
          <a:xfrm>
            <a:off x="822960" y="1554480"/>
            <a:ext cx="10424160" cy="4023360"/>
          </a:xfrm>
          <a:prstGeom prst="rect">
            <a:avLst/>
          </a:prstGeom>
          <a:noFill/>
        </p:spPr>
        <p:txBody>
          <a:bodyPr wrap="square" anchor="t">
            <a:spAutoFit/>
          </a:bodyPr>
          <a:lstStyle/>
          <a:p>
            <a:pPr>
              <a:spcAft>
                <a:spcPts val="1000"/>
              </a:spcAft>
            </a:pPr>
            <a:r>
              <a:rPr sz="1800" b="1">
                <a:solidFill>
                  <a:srgbClr val="22D3EE"/>
                </a:solidFill>
                <a:latin typeface="Helvetica Neue"/>
              </a:rPr>
              <a:t>▸  </a:t>
            </a:r>
            <a:r>
              <a:rPr sz="1800" b="1">
                <a:solidFill>
                  <a:srgbClr val="E2E8F0"/>
                </a:solidFill>
                <a:latin typeface="Helvetica Neue"/>
              </a:rPr>
              <a:t>A — Margin leaderboard:</a:t>
            </a:r>
            <a:r>
              <a:rPr sz="1800" b="0">
                <a:solidFill>
                  <a:srgbClr val="E2E8F0"/>
                </a:solidFill>
                <a:latin typeface="Helvetica Neue"/>
              </a:rPr>
              <a:t> profit &amp; avg margin % by region × product, ranked</a:t>
            </a:r>
          </a:p>
          <a:p>
            <a:pPr>
              <a:spcAft>
                <a:spcPts val="1000"/>
              </a:spcAft>
            </a:pPr>
            <a:r>
              <a:rPr sz="1800" b="1">
                <a:solidFill>
                  <a:srgbClr val="22D3EE"/>
                </a:solidFill>
                <a:latin typeface="Helvetica Neue"/>
              </a:rPr>
              <a:t>▸  </a:t>
            </a:r>
            <a:r>
              <a:rPr sz="1800" b="1">
                <a:solidFill>
                  <a:srgbClr val="E2E8F0"/>
                </a:solidFill>
                <a:latin typeface="Helvetica Neue"/>
              </a:rPr>
              <a:t>B — Channel summary:</a:t>
            </a:r>
            <a:r>
              <a:rPr sz="1800" b="0">
                <a:solidFill>
                  <a:srgbClr val="E2E8F0"/>
                </a:solidFill>
                <a:latin typeface="Helvetica Neue"/>
              </a:rPr>
              <a:t> revenue, profit, avg units per channel</a:t>
            </a:r>
          </a:p>
          <a:p>
            <a:pPr>
              <a:spcAft>
                <a:spcPts val="1000"/>
              </a:spcAft>
            </a:pPr>
            <a:r>
              <a:rPr sz="1800" b="1">
                <a:solidFill>
                  <a:srgbClr val="22D3EE"/>
                </a:solidFill>
                <a:latin typeface="Helvetica Neue"/>
              </a:rPr>
              <a:t>▸  </a:t>
            </a:r>
            <a:r>
              <a:rPr sz="1800" b="1">
                <a:solidFill>
                  <a:srgbClr val="E2E8F0"/>
                </a:solidFill>
                <a:latin typeface="Helvetica Neue"/>
              </a:rPr>
              <a:t>C — Top 10 transactions:</a:t>
            </a:r>
            <a:r>
              <a:rPr sz="1800" b="0">
                <a:solidFill>
                  <a:srgbClr val="E2E8F0"/>
                </a:solidFill>
                <a:latin typeface="Helvetica Neue"/>
              </a:rPr>
              <a:t> the highest-profit individual rows</a:t>
            </a:r>
          </a:p>
          <a:p>
            <a:pPr>
              <a:spcAft>
                <a:spcPts val="1000"/>
              </a:spcAft>
            </a:pPr>
            <a:r>
              <a:rPr sz="1800" b="1">
                <a:solidFill>
                  <a:srgbClr val="22D3EE"/>
                </a:solidFill>
                <a:latin typeface="Helvetica Neue"/>
              </a:rPr>
              <a:t>▸  </a:t>
            </a:r>
            <a:r>
              <a:rPr sz="1800" b="0">
                <a:solidFill>
                  <a:srgbClr val="E2E8F0"/>
                </a:solidFill>
                <a:latin typeface="Helvetica Neue"/>
              </a:rPr>
              <a:t>Each section is a single, readable pipeline over 50,000 rows</a:t>
            </a:r>
          </a:p>
        </p:txBody>
      </p:sp>
      <p:sp>
        <p:nvSpPr>
          <p:cNvPr id="6" name="TextBox 5"/>
          <p:cNvSpPr txBox="1"/>
          <p:nvPr/>
        </p:nvSpPr>
        <p:spPr>
          <a:xfrm>
            <a:off x="822960" y="5989320"/>
            <a:ext cx="8686800" cy="640080"/>
          </a:xfrm>
          <a:prstGeom prst="rect">
            <a:avLst/>
          </a:prstGeom>
          <a:noFill/>
        </p:spPr>
        <p:txBody>
          <a:bodyPr wrap="square" anchor="t">
            <a:spAutoFit/>
          </a:bodyPr>
          <a:lstStyle/>
          <a:p>
            <a:r>
              <a:rPr sz="1100" b="0">
                <a:solidFill>
                  <a:srgbClr val="94A3B8"/>
                </a:solidFill>
                <a:latin typeface="Helvetica Neue"/>
              </a:rPr>
              <a:t>▨ Three stacked pipeline strips, one per section.</a:t>
            </a:r>
          </a:p>
        </p:txBody>
      </p:sp>
      <p:sp>
        <p:nvSpPr>
          <p:cNvPr id="7" name="TextBox 6"/>
          <p:cNvSpPr txBox="1"/>
          <p:nvPr/>
        </p:nvSpPr>
        <p:spPr>
          <a:xfrm>
            <a:off x="10058400" y="5989320"/>
            <a:ext cx="1737360" cy="457200"/>
          </a:xfrm>
          <a:prstGeom prst="rect">
            <a:avLst/>
          </a:prstGeom>
          <a:noFill/>
        </p:spPr>
        <p:txBody>
          <a:bodyPr wrap="square" anchor="t">
            <a:spAutoFit/>
          </a:bodyPr>
          <a:lstStyle/>
          <a:p>
            <a:pPr algn="r"/>
            <a:r>
              <a:rPr sz="1100" b="0">
                <a:solidFill>
                  <a:srgbClr val="22D3EE"/>
                </a:solidFill>
                <a:latin typeface="Helvetica Neue"/>
              </a:rPr>
              <a:t>1:15–1:45</a:t>
            </a:r>
          </a:p>
        </p:txBody>
      </p:sp>
      <p:sp>
        <p:nvSpPr>
          <p:cNvPr id="8" name="TextBox 7"/>
          <p:cNvSpPr txBox="1"/>
          <p:nvPr/>
        </p:nvSpPr>
        <p:spPr>
          <a:xfrm>
            <a:off x="11155680" y="137160"/>
            <a:ext cx="914400" cy="365760"/>
          </a:xfrm>
          <a:prstGeom prst="rect">
            <a:avLst/>
          </a:prstGeom>
          <a:noFill/>
        </p:spPr>
        <p:txBody>
          <a:bodyPr wrap="square" anchor="t">
            <a:spAutoFit/>
          </a:bodyPr>
          <a:lstStyle/>
          <a:p>
            <a:pPr algn="r"/>
            <a:r>
              <a:rPr sz="1000" b="0">
                <a:solidFill>
                  <a:srgbClr val="94A3B8"/>
                </a:solidFill>
                <a:latin typeface="Helvetica Neue"/>
              </a:rPr>
              <a:t>03/07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822960" y="1234440"/>
            <a:ext cx="502920" cy="640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nchor="t">
            <a:spAutoFit/>
          </a:bodyPr>
          <a:lstStyle/>
          <a:p>
            <a:r>
              <a:rPr sz="3000" b="1">
                <a:solidFill>
                  <a:srgbClr val="E2E8F0"/>
                </a:solidFill>
                <a:latin typeface="Helvetica Neue"/>
              </a:rPr>
              <a:t>Three Real Reports, Each a Self-Contained Process</a:t>
            </a:r>
          </a:p>
        </p:txBody>
      </p:sp>
      <p:sp>
        <p:nvSpPr>
          <p:cNvPr id="4" name="TextBox 3"/>
          <p:cNvSpPr txBox="1"/>
          <p:nvPr/>
        </p:nvSpPr>
        <p:spPr>
          <a:xfrm>
            <a:off x="822960" y="182880"/>
            <a:ext cx="10515600" cy="365760"/>
          </a:xfrm>
          <a:prstGeom prst="rect">
            <a:avLst/>
          </a:prstGeom>
          <a:noFill/>
        </p:spPr>
        <p:txBody>
          <a:bodyPr wrap="square" anchor="t">
            <a:spAutoFit/>
          </a:bodyPr>
          <a:lstStyle/>
          <a:p>
            <a:r>
              <a:rPr sz="1100" b="1">
                <a:solidFill>
                  <a:srgbClr val="22D3EE"/>
                </a:solidFill>
                <a:latin typeface="Helvetica Neue"/>
              </a:rPr>
              <a:t>SLIDE 4 — WHAT YOU JUST SAW</a:t>
            </a:r>
          </a:p>
        </p:txBody>
      </p:sp>
      <p:sp>
        <p:nvSpPr>
          <p:cNvPr id="5" name="TextBox 4"/>
          <p:cNvSpPr txBox="1"/>
          <p:nvPr/>
        </p:nvSpPr>
        <p:spPr>
          <a:xfrm>
            <a:off x="822960" y="1554480"/>
            <a:ext cx="10424160" cy="4023360"/>
          </a:xfrm>
          <a:prstGeom prst="rect">
            <a:avLst/>
          </a:prstGeom>
          <a:noFill/>
        </p:spPr>
        <p:txBody>
          <a:bodyPr wrap="square" anchor="t">
            <a:spAutoFit/>
          </a:bodyPr>
          <a:lstStyle/>
          <a:p>
            <a:pPr>
              <a:spcAft>
                <a:spcPts val="1000"/>
              </a:spcAft>
            </a:pPr>
            <a:r>
              <a:rPr sz="1800" b="1">
                <a:solidFill>
                  <a:srgbClr val="22D3EE"/>
                </a:solidFill>
                <a:latin typeface="Helvetica Neue"/>
              </a:rPr>
              <a:t>▸  </a:t>
            </a:r>
            <a:r>
              <a:rPr sz="1800" b="0">
                <a:solidFill>
                  <a:srgbClr val="E2E8F0"/>
                </a:solidFill>
                <a:latin typeface="Helvetica Neue"/>
              </a:rPr>
              <a:t>Chained </a:t>
            </a:r>
            <a:r>
              <a:rPr sz="1800" b="0">
                <a:solidFill>
                  <a:srgbClr val="E2E8F0"/>
                </a:solidFill>
                <a:latin typeface="Menlo"/>
              </a:rPr>
              <a:t>derive</a:t>
            </a:r>
            <a:r>
              <a:rPr sz="1800" b="0">
                <a:solidFill>
                  <a:srgbClr val="E2E8F0"/>
                </a:solidFill>
                <a:latin typeface="Helvetica Neue"/>
              </a:rPr>
              <a:t> — build </a:t>
            </a:r>
            <a:r>
              <a:rPr sz="1800" b="0">
                <a:solidFill>
                  <a:srgbClr val="E2E8F0"/>
                </a:solidFill>
                <a:latin typeface="Menlo"/>
              </a:rPr>
              <a:t>profit</a:t>
            </a:r>
            <a:r>
              <a:rPr sz="1800" b="0">
                <a:solidFill>
                  <a:srgbClr val="E2E8F0"/>
                </a:solidFill>
                <a:latin typeface="Helvetica Neue"/>
              </a:rPr>
              <a:t>, then </a:t>
            </a:r>
            <a:r>
              <a:rPr sz="1800" b="0">
                <a:solidFill>
                  <a:srgbClr val="E2E8F0"/>
                </a:solidFill>
                <a:latin typeface="Menlo"/>
              </a:rPr>
              <a:t>margin_pct</a:t>
            </a:r>
            <a:r>
              <a:rPr sz="1800" b="0">
                <a:solidFill>
                  <a:srgbClr val="E2E8F0"/>
                </a:solidFill>
                <a:latin typeface="Helvetica Neue"/>
              </a:rPr>
              <a:t> from it</a:t>
            </a:r>
          </a:p>
          <a:p>
            <a:pPr>
              <a:spcAft>
                <a:spcPts val="1000"/>
              </a:spcAft>
            </a:pPr>
            <a:r>
              <a:rPr sz="1800" b="1">
                <a:solidFill>
                  <a:srgbClr val="22D3EE"/>
                </a:solidFill>
                <a:latin typeface="Helvetica Neue"/>
              </a:rPr>
              <a:t>▸  </a:t>
            </a:r>
            <a:r>
              <a:rPr sz="1800" b="0">
                <a:solidFill>
                  <a:srgbClr val="E2E8F0"/>
                </a:solidFill>
                <a:latin typeface="Helvetica Neue"/>
              </a:rPr>
              <a:t>Multi-key </a:t>
            </a:r>
            <a:r>
              <a:rPr sz="1800" b="0">
                <a:solidFill>
                  <a:srgbClr val="E2E8F0"/>
                </a:solidFill>
                <a:latin typeface="Menlo"/>
              </a:rPr>
              <a:t>groupby(region, product)</a:t>
            </a:r>
          </a:p>
          <a:p>
            <a:pPr>
              <a:spcAft>
                <a:spcPts val="1000"/>
              </a:spcAft>
            </a:pPr>
            <a:r>
              <a:rPr sz="1800" b="1">
                <a:solidFill>
                  <a:srgbClr val="22D3EE"/>
                </a:solidFill>
                <a:latin typeface="Helvetica Neue"/>
              </a:rPr>
              <a:t>▸  </a:t>
            </a:r>
            <a:r>
              <a:rPr sz="1800" b="0">
                <a:solidFill>
                  <a:srgbClr val="E2E8F0"/>
                </a:solidFill>
                <a:latin typeface="Menlo"/>
              </a:rPr>
              <a:t>select → sort → head</a:t>
            </a:r>
            <a:r>
              <a:rPr sz="1800" b="0">
                <a:solidFill>
                  <a:srgbClr val="E2E8F0"/>
                </a:solidFill>
                <a:latin typeface="Helvetica Neue"/>
              </a:rPr>
              <a:t> to surface notable individual rows</a:t>
            </a:r>
          </a:p>
          <a:p>
            <a:pPr>
              <a:spcAft>
                <a:spcPts val="1000"/>
              </a:spcAft>
            </a:pPr>
            <a:r>
              <a:rPr sz="1800" b="1">
                <a:solidFill>
                  <a:srgbClr val="22D3EE"/>
                </a:solidFill>
                <a:latin typeface="Helvetica Neue"/>
              </a:rPr>
              <a:t>▸  </a:t>
            </a:r>
            <a:r>
              <a:rPr sz="1800" b="0">
                <a:solidFill>
                  <a:srgbClr val="E2E8F0"/>
                </a:solidFill>
                <a:latin typeface="Helvetica Neue"/>
              </a:rPr>
              <a:t>Three CSV artifacts written to </a:t>
            </a:r>
            <a:r>
              <a:rPr sz="1800" b="0">
                <a:solidFill>
                  <a:srgbClr val="E2E8F0"/>
                </a:solidFill>
                <a:latin typeface="Menlo"/>
              </a:rPr>
              <a:t>out/</a:t>
            </a:r>
            <a:r>
              <a:rPr sz="1800" b="0">
                <a:solidFill>
                  <a:srgbClr val="E2E8F0"/>
                </a:solidFill>
                <a:latin typeface="Helvetica Neue"/>
              </a:rPr>
              <a:t> — the actual deliverable</a:t>
            </a:r>
          </a:p>
        </p:txBody>
      </p:sp>
      <p:sp>
        <p:nvSpPr>
          <p:cNvPr id="6" name="TextBox 5"/>
          <p:cNvSpPr txBox="1"/>
          <p:nvPr/>
        </p:nvSpPr>
        <p:spPr>
          <a:xfrm>
            <a:off x="822960" y="5989320"/>
            <a:ext cx="8686800" cy="640080"/>
          </a:xfrm>
          <a:prstGeom prst="rect">
            <a:avLst/>
          </a:prstGeom>
          <a:noFill/>
        </p:spPr>
        <p:txBody>
          <a:bodyPr wrap="square" anchor="t">
            <a:spAutoFit/>
          </a:bodyPr>
          <a:lstStyle/>
          <a:p>
            <a:r>
              <a:rPr sz="1100" b="0">
                <a:solidFill>
                  <a:srgbClr val="94A3B8"/>
                </a:solidFill>
                <a:latin typeface="Helvetica Neue"/>
              </a:rPr>
              <a:t>▨ The out/ folder with three files and their row counts.</a:t>
            </a:r>
          </a:p>
        </p:txBody>
      </p:sp>
      <p:sp>
        <p:nvSpPr>
          <p:cNvPr id="7" name="TextBox 6"/>
          <p:cNvSpPr txBox="1"/>
          <p:nvPr/>
        </p:nvSpPr>
        <p:spPr>
          <a:xfrm>
            <a:off x="10058400" y="5989320"/>
            <a:ext cx="1737360" cy="457200"/>
          </a:xfrm>
          <a:prstGeom prst="rect">
            <a:avLst/>
          </a:prstGeom>
          <a:noFill/>
        </p:spPr>
        <p:txBody>
          <a:bodyPr wrap="square" anchor="t">
            <a:spAutoFit/>
          </a:bodyPr>
          <a:lstStyle/>
          <a:p>
            <a:pPr algn="r"/>
            <a:r>
              <a:rPr sz="1100" b="0">
                <a:solidFill>
                  <a:srgbClr val="22D3EE"/>
                </a:solidFill>
                <a:latin typeface="Helvetica Neue"/>
              </a:rPr>
              <a:t>1:45–2:45</a:t>
            </a:r>
          </a:p>
        </p:txBody>
      </p:sp>
      <p:sp>
        <p:nvSpPr>
          <p:cNvPr id="8" name="TextBox 7"/>
          <p:cNvSpPr txBox="1"/>
          <p:nvPr/>
        </p:nvSpPr>
        <p:spPr>
          <a:xfrm>
            <a:off x="11155680" y="137160"/>
            <a:ext cx="914400" cy="365760"/>
          </a:xfrm>
          <a:prstGeom prst="rect">
            <a:avLst/>
          </a:prstGeom>
          <a:noFill/>
        </p:spPr>
        <p:txBody>
          <a:bodyPr wrap="square" anchor="t">
            <a:spAutoFit/>
          </a:bodyPr>
          <a:lstStyle/>
          <a:p>
            <a:pPr algn="r"/>
            <a:r>
              <a:rPr sz="1000" b="0">
                <a:solidFill>
                  <a:srgbClr val="94A3B8"/>
                </a:solidFill>
                <a:latin typeface="Helvetica Neue"/>
              </a:rPr>
              <a:t>04/07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822960" y="1234440"/>
            <a:ext cx="502920" cy="640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nchor="t">
            <a:spAutoFit/>
          </a:bodyPr>
          <a:lstStyle/>
          <a:p>
            <a:r>
              <a:rPr sz="3000" b="1">
                <a:solidFill>
                  <a:srgbClr val="E2E8F0"/>
                </a:solidFill>
                <a:latin typeface="Helvetica Neue"/>
              </a:rPr>
              <a:t>No Runtime, No State — Just a File a Scheduler Runs</a:t>
            </a:r>
          </a:p>
        </p:txBody>
      </p:sp>
      <p:sp>
        <p:nvSpPr>
          <p:cNvPr id="4" name="TextBox 3"/>
          <p:cNvSpPr txBox="1"/>
          <p:nvPr/>
        </p:nvSpPr>
        <p:spPr>
          <a:xfrm>
            <a:off x="822960" y="182880"/>
            <a:ext cx="10515600" cy="365760"/>
          </a:xfrm>
          <a:prstGeom prst="rect">
            <a:avLst/>
          </a:prstGeom>
          <a:noFill/>
        </p:spPr>
        <p:txBody>
          <a:bodyPr wrap="square" anchor="t">
            <a:spAutoFit/>
          </a:bodyPr>
          <a:lstStyle/>
          <a:p>
            <a:r>
              <a:rPr sz="1100" b="1">
                <a:solidFill>
                  <a:srgbClr val="22D3EE"/>
                </a:solidFill>
                <a:latin typeface="Helvetica Neue"/>
              </a:rPr>
              <a:t>SLIDE 5 — WHY THIS SHAPE WINS</a:t>
            </a:r>
          </a:p>
        </p:txBody>
      </p:sp>
      <p:sp>
        <p:nvSpPr>
          <p:cNvPr id="5" name="TextBox 4"/>
          <p:cNvSpPr txBox="1"/>
          <p:nvPr/>
        </p:nvSpPr>
        <p:spPr>
          <a:xfrm>
            <a:off x="822960" y="1554480"/>
            <a:ext cx="10424160" cy="4023360"/>
          </a:xfrm>
          <a:prstGeom prst="rect">
            <a:avLst/>
          </a:prstGeom>
          <a:noFill/>
        </p:spPr>
        <p:txBody>
          <a:bodyPr wrap="square" anchor="t">
            <a:spAutoFit/>
          </a:bodyPr>
          <a:lstStyle/>
          <a:p>
            <a:pPr>
              <a:spcAft>
                <a:spcPts val="1000"/>
              </a:spcAft>
            </a:pPr>
            <a:r>
              <a:rPr sz="1800" b="1">
                <a:solidFill>
                  <a:srgbClr val="22D3EE"/>
                </a:solidFill>
                <a:latin typeface="Helvetica Neue"/>
              </a:rPr>
              <a:t>▸  </a:t>
            </a:r>
            <a:r>
              <a:rPr sz="1800" b="0">
                <a:solidFill>
                  <a:srgbClr val="E2E8F0"/>
                </a:solidFill>
                <a:latin typeface="Helvetica Neue"/>
              </a:rPr>
              <a:t>The job </a:t>
            </a:r>
            <a:r>
              <a:rPr sz="1800" b="1">
                <a:solidFill>
                  <a:srgbClr val="E2E8F0"/>
                </a:solidFill>
                <a:latin typeface="Helvetica Neue"/>
              </a:rPr>
              <a:t>is</a:t>
            </a:r>
            <a:r>
              <a:rPr sz="1800" b="0">
                <a:solidFill>
                  <a:srgbClr val="E2E8F0"/>
                </a:solidFill>
                <a:latin typeface="Helvetica Neue"/>
              </a:rPr>
              <a:t> the shell file — point cron or CI at it, done</a:t>
            </a:r>
          </a:p>
          <a:p>
            <a:pPr>
              <a:spcAft>
                <a:spcPts val="1000"/>
              </a:spcAft>
            </a:pPr>
            <a:r>
              <a:rPr sz="1800" b="1">
                <a:solidFill>
                  <a:srgbClr val="22D3EE"/>
                </a:solidFill>
                <a:latin typeface="Helvetica Neue"/>
              </a:rPr>
              <a:t>▸  </a:t>
            </a:r>
            <a:r>
              <a:rPr sz="1800" b="0">
                <a:solidFill>
                  <a:srgbClr val="E2E8F0"/>
                </a:solidFill>
                <a:latin typeface="Helvetica Neue"/>
              </a:rPr>
              <a:t>Nothing resident between runs: no memory to leak, no server to babysit</a:t>
            </a:r>
          </a:p>
          <a:p>
            <a:pPr>
              <a:spcAft>
                <a:spcPts val="1000"/>
              </a:spcAft>
            </a:pPr>
            <a:r>
              <a:rPr sz="1800" b="1">
                <a:solidFill>
                  <a:srgbClr val="22D3EE"/>
                </a:solidFill>
                <a:latin typeface="Helvetica Neue"/>
              </a:rPr>
              <a:t>▸  </a:t>
            </a:r>
            <a:r>
              <a:rPr sz="1800" b="0">
                <a:solidFill>
                  <a:srgbClr val="E2E8F0"/>
                </a:solidFill>
                <a:latin typeface="Helvetica Neue"/>
              </a:rPr>
              <a:t>Deterministic: same input → same bytes out (great for diffing &amp; auditing)</a:t>
            </a:r>
          </a:p>
          <a:p>
            <a:pPr>
              <a:spcAft>
                <a:spcPts val="1000"/>
              </a:spcAft>
            </a:pPr>
            <a:r>
              <a:rPr sz="1800" b="1">
                <a:solidFill>
                  <a:srgbClr val="22D3EE"/>
                </a:solidFill>
                <a:latin typeface="Helvetica Neue"/>
              </a:rPr>
              <a:t>▸  </a:t>
            </a:r>
            <a:r>
              <a:rPr sz="1800" b="0">
                <a:solidFill>
                  <a:srgbClr val="E2E8F0"/>
                </a:solidFill>
                <a:latin typeface="Helvetica Neue"/>
              </a:rPr>
              <a:t>One self-contained binary as the only dependency</a:t>
            </a:r>
          </a:p>
        </p:txBody>
      </p:sp>
      <p:sp>
        <p:nvSpPr>
          <p:cNvPr id="6" name="TextBox 5"/>
          <p:cNvSpPr txBox="1"/>
          <p:nvPr/>
        </p:nvSpPr>
        <p:spPr>
          <a:xfrm>
            <a:off x="822960" y="5989320"/>
            <a:ext cx="8686800" cy="640080"/>
          </a:xfrm>
          <a:prstGeom prst="rect">
            <a:avLst/>
          </a:prstGeom>
          <a:noFill/>
        </p:spPr>
        <p:txBody>
          <a:bodyPr wrap="square" anchor="t">
            <a:spAutoFit/>
          </a:bodyPr>
          <a:lstStyle/>
          <a:p>
            <a:r>
              <a:rPr sz="1100" b="0">
                <a:solidFill>
                  <a:srgbClr val="94A3B8"/>
                </a:solidFill>
                <a:latin typeface="Helvetica Neue"/>
              </a:rPr>
              <a:t>▨ A cron line 0 6 * * *  ./run.sh above the three output files.</a:t>
            </a:r>
          </a:p>
        </p:txBody>
      </p:sp>
      <p:sp>
        <p:nvSpPr>
          <p:cNvPr id="7" name="TextBox 6"/>
          <p:cNvSpPr txBox="1"/>
          <p:nvPr/>
        </p:nvSpPr>
        <p:spPr>
          <a:xfrm>
            <a:off x="10058400" y="5989320"/>
            <a:ext cx="1737360" cy="457200"/>
          </a:xfrm>
          <a:prstGeom prst="rect">
            <a:avLst/>
          </a:prstGeom>
          <a:noFill/>
        </p:spPr>
        <p:txBody>
          <a:bodyPr wrap="square" anchor="t">
            <a:spAutoFit/>
          </a:bodyPr>
          <a:lstStyle/>
          <a:p>
            <a:pPr algn="r"/>
            <a:r>
              <a:rPr sz="1100" b="0">
                <a:solidFill>
                  <a:srgbClr val="22D3EE"/>
                </a:solidFill>
                <a:latin typeface="Helvetica Neue"/>
              </a:rPr>
              <a:t>2:45–3:45</a:t>
            </a:r>
          </a:p>
        </p:txBody>
      </p:sp>
      <p:sp>
        <p:nvSpPr>
          <p:cNvPr id="8" name="TextBox 7"/>
          <p:cNvSpPr txBox="1"/>
          <p:nvPr/>
        </p:nvSpPr>
        <p:spPr>
          <a:xfrm>
            <a:off x="11155680" y="137160"/>
            <a:ext cx="914400" cy="365760"/>
          </a:xfrm>
          <a:prstGeom prst="rect">
            <a:avLst/>
          </a:prstGeom>
          <a:noFill/>
        </p:spPr>
        <p:txBody>
          <a:bodyPr wrap="square" anchor="t">
            <a:spAutoFit/>
          </a:bodyPr>
          <a:lstStyle/>
          <a:p>
            <a:pPr algn="r"/>
            <a:r>
              <a:rPr sz="1000" b="0">
                <a:solidFill>
                  <a:srgbClr val="94A3B8"/>
                </a:solidFill>
                <a:latin typeface="Helvetica Neue"/>
              </a:rPr>
              <a:t>05/07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822960" y="1234440"/>
            <a:ext cx="502920" cy="640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nchor="t">
            <a:spAutoFit/>
          </a:bodyPr>
          <a:lstStyle/>
          <a:p>
            <a:r>
              <a:rPr sz="3000" b="1">
                <a:solidFill>
                  <a:srgbClr val="E2E8F0"/>
                </a:solidFill>
                <a:latin typeface="Helvetica Neue"/>
              </a:rPr>
              <a:t>From One Report to a Reporting Fleet</a:t>
            </a:r>
          </a:p>
        </p:txBody>
      </p:sp>
      <p:sp>
        <p:nvSpPr>
          <p:cNvPr id="4" name="TextBox 3"/>
          <p:cNvSpPr txBox="1"/>
          <p:nvPr/>
        </p:nvSpPr>
        <p:spPr>
          <a:xfrm>
            <a:off x="822960" y="182880"/>
            <a:ext cx="10515600" cy="365760"/>
          </a:xfrm>
          <a:prstGeom prst="rect">
            <a:avLst/>
          </a:prstGeom>
          <a:noFill/>
        </p:spPr>
        <p:txBody>
          <a:bodyPr wrap="square" anchor="t">
            <a:spAutoFit/>
          </a:bodyPr>
          <a:lstStyle/>
          <a:p>
            <a:r>
              <a:rPr sz="1100" b="1">
                <a:solidFill>
                  <a:srgbClr val="22D3EE"/>
                </a:solidFill>
                <a:latin typeface="Helvetica Neue"/>
              </a:rPr>
              <a:t>SLIDE 6 — SCALE &amp; COMPOSE</a:t>
            </a:r>
          </a:p>
        </p:txBody>
      </p:sp>
      <p:sp>
        <p:nvSpPr>
          <p:cNvPr id="5" name="TextBox 4"/>
          <p:cNvSpPr txBox="1"/>
          <p:nvPr/>
        </p:nvSpPr>
        <p:spPr>
          <a:xfrm>
            <a:off x="822960" y="1554480"/>
            <a:ext cx="10424160" cy="4023360"/>
          </a:xfrm>
          <a:prstGeom prst="rect">
            <a:avLst/>
          </a:prstGeom>
          <a:noFill/>
        </p:spPr>
        <p:txBody>
          <a:bodyPr wrap="square" anchor="t">
            <a:spAutoFit/>
          </a:bodyPr>
          <a:lstStyle/>
          <a:p>
            <a:pPr>
              <a:spcAft>
                <a:spcPts val="1000"/>
              </a:spcAft>
            </a:pPr>
            <a:r>
              <a:rPr sz="1800" b="1">
                <a:solidFill>
                  <a:srgbClr val="22D3EE"/>
                </a:solidFill>
                <a:latin typeface="Helvetica Neue"/>
              </a:rPr>
              <a:t>▸  </a:t>
            </a:r>
            <a:r>
              <a:rPr sz="1800" b="0">
                <a:solidFill>
                  <a:srgbClr val="E2E8F0"/>
                </a:solidFill>
                <a:latin typeface="Helvetica Neue"/>
              </a:rPr>
              <a:t>Fan out: a loop over 100 regional extracts, each its own report folder</a:t>
            </a:r>
          </a:p>
          <a:p>
            <a:pPr>
              <a:spcAft>
                <a:spcPts val="1000"/>
              </a:spcAft>
            </a:pPr>
            <a:r>
              <a:rPr sz="1800" b="1">
                <a:solidFill>
                  <a:srgbClr val="22D3EE"/>
                </a:solidFill>
                <a:latin typeface="Helvetica Neue"/>
              </a:rPr>
              <a:t>▸  </a:t>
            </a:r>
            <a:r>
              <a:rPr sz="1800" b="0">
                <a:solidFill>
                  <a:srgbClr val="E2E8F0"/>
                </a:solidFill>
                <a:latin typeface="Helvetica Neue"/>
              </a:rPr>
              <a:t>Compose with Demo 1 &amp; 2: one-shot sections here, resident sessions for interactive drill-down</a:t>
            </a:r>
          </a:p>
          <a:p>
            <a:pPr>
              <a:spcAft>
                <a:spcPts val="1000"/>
              </a:spcAft>
            </a:pPr>
            <a:r>
              <a:rPr sz="1800" b="1">
                <a:solidFill>
                  <a:srgbClr val="22D3EE"/>
                </a:solidFill>
                <a:latin typeface="Helvetica Neue"/>
              </a:rPr>
              <a:t>▸  </a:t>
            </a:r>
            <a:r>
              <a:rPr sz="1800" b="0">
                <a:solidFill>
                  <a:srgbClr val="E2E8F0"/>
                </a:solidFill>
                <a:latin typeface="Helvetica Neue"/>
              </a:rPr>
              <a:t>Deterministic output makes CI assertions trivial ("did the numbers change?")</a:t>
            </a:r>
          </a:p>
          <a:p>
            <a:pPr>
              <a:spcAft>
                <a:spcPts val="1000"/>
              </a:spcAft>
            </a:pPr>
            <a:r>
              <a:rPr sz="1800" b="1">
                <a:solidFill>
                  <a:srgbClr val="22D3EE"/>
                </a:solidFill>
                <a:latin typeface="Helvetica Neue"/>
              </a:rPr>
              <a:t>▸  </a:t>
            </a:r>
            <a:r>
              <a:rPr sz="1800" b="0">
                <a:solidFill>
                  <a:srgbClr val="E2E8F0"/>
                </a:solidFill>
                <a:latin typeface="Helvetica Neue"/>
              </a:rPr>
              <a:t>Same DSL an analyst reads and an LLM writes</a:t>
            </a:r>
          </a:p>
        </p:txBody>
      </p:sp>
      <p:sp>
        <p:nvSpPr>
          <p:cNvPr id="6" name="TextBox 5"/>
          <p:cNvSpPr txBox="1"/>
          <p:nvPr/>
        </p:nvSpPr>
        <p:spPr>
          <a:xfrm>
            <a:off x="822960" y="5989320"/>
            <a:ext cx="8686800" cy="640080"/>
          </a:xfrm>
          <a:prstGeom prst="rect">
            <a:avLst/>
          </a:prstGeom>
          <a:noFill/>
        </p:spPr>
        <p:txBody>
          <a:bodyPr wrap="square" anchor="t">
            <a:spAutoFit/>
          </a:bodyPr>
          <a:lstStyle/>
          <a:p>
            <a:r>
              <a:rPr sz="1100" b="0">
                <a:solidFill>
                  <a:srgbClr val="94A3B8"/>
                </a:solidFill>
                <a:latin typeface="Helvetica Neue"/>
              </a:rPr>
              <a:t>▨ One report file multiplying into a grid of report folders.</a:t>
            </a:r>
          </a:p>
        </p:txBody>
      </p:sp>
      <p:sp>
        <p:nvSpPr>
          <p:cNvPr id="7" name="TextBox 6"/>
          <p:cNvSpPr txBox="1"/>
          <p:nvPr/>
        </p:nvSpPr>
        <p:spPr>
          <a:xfrm>
            <a:off x="10058400" y="5989320"/>
            <a:ext cx="1737360" cy="457200"/>
          </a:xfrm>
          <a:prstGeom prst="rect">
            <a:avLst/>
          </a:prstGeom>
          <a:noFill/>
        </p:spPr>
        <p:txBody>
          <a:bodyPr wrap="square" anchor="t">
            <a:spAutoFit/>
          </a:bodyPr>
          <a:lstStyle/>
          <a:p>
            <a:pPr algn="r"/>
            <a:r>
              <a:rPr sz="1100" b="0">
                <a:solidFill>
                  <a:srgbClr val="22D3EE"/>
                </a:solidFill>
                <a:latin typeface="Helvetica Neue"/>
              </a:rPr>
              <a:t>3:45–4:30</a:t>
            </a:r>
          </a:p>
        </p:txBody>
      </p:sp>
      <p:sp>
        <p:nvSpPr>
          <p:cNvPr id="8" name="TextBox 7"/>
          <p:cNvSpPr txBox="1"/>
          <p:nvPr/>
        </p:nvSpPr>
        <p:spPr>
          <a:xfrm>
            <a:off x="11155680" y="137160"/>
            <a:ext cx="914400" cy="365760"/>
          </a:xfrm>
          <a:prstGeom prst="rect">
            <a:avLst/>
          </a:prstGeom>
          <a:noFill/>
        </p:spPr>
        <p:txBody>
          <a:bodyPr wrap="square" anchor="t">
            <a:spAutoFit/>
          </a:bodyPr>
          <a:lstStyle/>
          <a:p>
            <a:pPr algn="r"/>
            <a:r>
              <a:rPr sz="1000" b="0">
                <a:solidFill>
                  <a:srgbClr val="94A3B8"/>
                </a:solidFill>
                <a:latin typeface="Helvetica Neue"/>
              </a:rPr>
              <a:t>06/07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822960" y="1234440"/>
            <a:ext cx="502920" cy="64008"/>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nchor="t">
            <a:spAutoFit/>
          </a:bodyPr>
          <a:lstStyle/>
          <a:p>
            <a:r>
              <a:rPr sz="3000" b="1">
                <a:solidFill>
                  <a:srgbClr val="E2E8F0"/>
                </a:solidFill>
                <a:latin typeface="Helvetica Neue"/>
              </a:rPr>
              <a:t>The Deliverable Is the Point. Everything Else Gets Out of the Way.</a:t>
            </a:r>
          </a:p>
        </p:txBody>
      </p:sp>
      <p:sp>
        <p:nvSpPr>
          <p:cNvPr id="4" name="TextBox 3"/>
          <p:cNvSpPr txBox="1"/>
          <p:nvPr/>
        </p:nvSpPr>
        <p:spPr>
          <a:xfrm>
            <a:off x="822960" y="182880"/>
            <a:ext cx="10515600" cy="365760"/>
          </a:xfrm>
          <a:prstGeom prst="rect">
            <a:avLst/>
          </a:prstGeom>
          <a:noFill/>
        </p:spPr>
        <p:txBody>
          <a:bodyPr wrap="square" anchor="t">
            <a:spAutoFit/>
          </a:bodyPr>
          <a:lstStyle/>
          <a:p>
            <a:r>
              <a:rPr sz="1100" b="1">
                <a:solidFill>
                  <a:srgbClr val="C084FC"/>
                </a:solidFill>
                <a:latin typeface="Helvetica Neue"/>
              </a:rPr>
              <a:t>SLIDE 7 — CLOSE</a:t>
            </a:r>
          </a:p>
        </p:txBody>
      </p:sp>
      <p:sp>
        <p:nvSpPr>
          <p:cNvPr id="5" name="TextBox 4"/>
          <p:cNvSpPr txBox="1"/>
          <p:nvPr/>
        </p:nvSpPr>
        <p:spPr>
          <a:xfrm>
            <a:off x="822960" y="1554480"/>
            <a:ext cx="10424160" cy="4023360"/>
          </a:xfrm>
          <a:prstGeom prst="rect">
            <a:avLst/>
          </a:prstGeom>
          <a:noFill/>
        </p:spPr>
        <p:txBody>
          <a:bodyPr wrap="square" anchor="t">
            <a:spAutoFit/>
          </a:bodyPr>
          <a:lstStyle/>
          <a:p>
            <a:pPr>
              <a:spcAft>
                <a:spcPts val="1000"/>
              </a:spcAft>
            </a:pPr>
            <a:r>
              <a:rPr sz="1800" b="1">
                <a:solidFill>
                  <a:srgbClr val="C084FC"/>
                </a:solidFill>
                <a:latin typeface="Helvetica Neue"/>
              </a:rPr>
              <a:t>▸  </a:t>
            </a:r>
            <a:r>
              <a:rPr sz="1800" b="0">
                <a:solidFill>
                  <a:srgbClr val="E2E8F0"/>
                </a:solidFill>
                <a:latin typeface="Helvetica Neue"/>
              </a:rPr>
              <a:t>Raw in → artifacts out, unattended</a:t>
            </a:r>
          </a:p>
          <a:p>
            <a:pPr>
              <a:spcAft>
                <a:spcPts val="1000"/>
              </a:spcAft>
            </a:pPr>
            <a:r>
              <a:rPr sz="1800" b="1">
                <a:solidFill>
                  <a:srgbClr val="C084FC"/>
                </a:solidFill>
                <a:latin typeface="Helvetica Neue"/>
              </a:rPr>
              <a:t>▸  </a:t>
            </a:r>
            <a:r>
              <a:rPr sz="1800" b="0">
                <a:solidFill>
                  <a:srgbClr val="E2E8F0"/>
                </a:solidFill>
                <a:latin typeface="Helvetica Neue"/>
              </a:rPr>
              <a:t>No runtime, no state, deterministic, one binary</a:t>
            </a:r>
          </a:p>
          <a:p>
            <a:pPr>
              <a:spcAft>
                <a:spcPts val="1000"/>
              </a:spcAft>
            </a:pPr>
            <a:r>
              <a:rPr sz="1800" b="1">
                <a:solidFill>
                  <a:srgbClr val="C084FC"/>
                </a:solidFill>
                <a:latin typeface="Helvetica Neue"/>
              </a:rPr>
              <a:t>▸  </a:t>
            </a:r>
            <a:r>
              <a:rPr sz="1800" b="0">
                <a:solidFill>
                  <a:srgbClr val="E2E8F0"/>
                </a:solidFill>
                <a:latin typeface="Helvetica Neue"/>
              </a:rPr>
              <a:t>The same engine behind Demo 1's speed and Demo 2's sessions</a:t>
            </a:r>
          </a:p>
        </p:txBody>
      </p:sp>
      <p:sp>
        <p:nvSpPr>
          <p:cNvPr id="6" name="TextBox 5"/>
          <p:cNvSpPr txBox="1"/>
          <p:nvPr/>
        </p:nvSpPr>
        <p:spPr>
          <a:xfrm>
            <a:off x="822960" y="5989320"/>
            <a:ext cx="8686800" cy="640080"/>
          </a:xfrm>
          <a:prstGeom prst="rect">
            <a:avLst/>
          </a:prstGeom>
          <a:noFill/>
        </p:spPr>
        <p:txBody>
          <a:bodyPr wrap="square" anchor="t">
            <a:spAutoFit/>
          </a:bodyPr>
          <a:lstStyle/>
          <a:p>
            <a:r>
              <a:rPr sz="1100" b="0">
                <a:solidFill>
                  <a:srgbClr val="94A3B8"/>
                </a:solidFill>
                <a:latin typeface="Helvetica Neue"/>
              </a:rPr>
              <a:t>▨ SwiftPandas logo. The three demos as one arc: "fast · resident · scheduled".</a:t>
            </a:r>
          </a:p>
        </p:txBody>
      </p:sp>
      <p:sp>
        <p:nvSpPr>
          <p:cNvPr id="7" name="TextBox 6"/>
          <p:cNvSpPr txBox="1"/>
          <p:nvPr/>
        </p:nvSpPr>
        <p:spPr>
          <a:xfrm>
            <a:off x="10058400" y="5989320"/>
            <a:ext cx="1737360" cy="457200"/>
          </a:xfrm>
          <a:prstGeom prst="rect">
            <a:avLst/>
          </a:prstGeom>
          <a:noFill/>
        </p:spPr>
        <p:txBody>
          <a:bodyPr wrap="square" anchor="t">
            <a:spAutoFit/>
          </a:bodyPr>
          <a:lstStyle/>
          <a:p>
            <a:pPr algn="r"/>
            <a:r>
              <a:rPr sz="1100" b="0">
                <a:solidFill>
                  <a:srgbClr val="C084FC"/>
                </a:solidFill>
                <a:latin typeface="Helvetica Neue"/>
              </a:rPr>
              <a:t>4:30–5:15</a:t>
            </a:r>
          </a:p>
        </p:txBody>
      </p:sp>
      <p:sp>
        <p:nvSpPr>
          <p:cNvPr id="8" name="TextBox 7"/>
          <p:cNvSpPr txBox="1"/>
          <p:nvPr/>
        </p:nvSpPr>
        <p:spPr>
          <a:xfrm>
            <a:off x="11155680" y="137160"/>
            <a:ext cx="914400" cy="365760"/>
          </a:xfrm>
          <a:prstGeom prst="rect">
            <a:avLst/>
          </a:prstGeom>
          <a:noFill/>
        </p:spPr>
        <p:txBody>
          <a:bodyPr wrap="square" anchor="t">
            <a:spAutoFit/>
          </a:bodyPr>
          <a:lstStyle/>
          <a:p>
            <a:pPr algn="r"/>
            <a:r>
              <a:rPr sz="1000" b="0">
                <a:solidFill>
                  <a:srgbClr val="94A3B8"/>
                </a:solidFill>
                <a:latin typeface="Helvetica Neue"/>
              </a:rPr>
              <a:t>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